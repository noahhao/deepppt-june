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mp3" ContentType="audio/m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欢迎大家。今天我要向大家介绍的是 DeepPPT——一个 AI 驱动的智能演示生成系统。你们可能用过不少 PPT 工具，但 DeepPPT 的核心理念是独一无二的：能搜就搜，搜不到就生成。它既能把企业已有的存量素材最大化利用起来，也能从零创造出全新的高质量演示。在接下来的几分钟里，我会详细介绍它的召回流和生成流两大核心能力，以及背后的设计理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DeepPPT 的核心设计理念非常简单——能搜就搜，搜不到就生成。什么意思呢？左边这条跑道我们叫召回流，它从企业已有的 PPT 存量素材出发，通过精确索引和语义搜索找到最匹配的内容，然后进行局部微调复用。右边这条叫生成流，如果已有的素材里确实找不到合适的，那就启动七步串行流水线，从零创造一份全新的演示。召回流优先，生成流兜底——双流协同，智能决策。企业存量素材的复用率可以达到百分之八十以上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我们来看一下双流架构的整体面貌。左边是召回流，它包含了 PPT_Recall 和 LLM_Search 两套检索引擎。PPT_Recall 做的是关键词级别的精确索引，LLM_Search 做的是向量语义级别的匹配。中间这个红色模块是我们的门控体系——形式门控负责检查 SVG 是否合规，内容门控负责验证逻辑是否完整。如果召回流能找到合适的素材，就输出微调后的 PPT；如果找不到，就转交给生成流的七步流水线从头创作。记住这个逻辑——召回流优先，门控判定，生成流兜底。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现在让我们深入召回流的技术细节。整个召回架构分为五层。第一层是数据源入口，企业现有的 PPT、PDF、图片、文本都可以接入。第二层是索引构建，我们会提取关键词做精确索引，同时用 FAISS 构建向量库，粒度到幻灯片级别。第三层是搜索与召回，PPT_Recall 做关键词级的精确匹配，LLM_Search 做语义级的智能搜索，两者混合打分取 Top-K。第四层是局部微调，也就是我们说的 Mirror Fill——自动分组文字块，做段落级的 XML 替换，保持原有版式完全不动。第五层是 Watcher 文件监听，素材有变更就自动触发增量更新。右边这四个关键指标可以帮你理解召回质量：向量相似度占混合评分的百分之七十，关键词匹配占百分之三十，PPT_Recall 引擎是秒级响应的，LLM_Search 向量库用的是 FAISS。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LLM_Search 的工作流程非常清晰。你输入一个自然语言查询，系统先把它向量化，然后扔进 FAISS 索引里去搜。FAISS 数据库里存储的是幻灯片级的向量，向量相似度的计算决定了哪些页面和你的查询最相关。但纯向量搜索有时会漏掉关键的精确匹配，所以我们设计了一个混合打分机制——向量相似度占零点七的权重，关键词匹配占零点三。筛选出 Top-K 结果后，就进入 Mirror Fill 环节。Mirror Fill 真的非常好用——你只需要给它两个东西：一个查询文本，一个替换文本块列表。它会自动做段落级映射、XML 替换，而且保持原有版式像素级精准。底下的公式就是我们的混合评分公式：score of i 等于零点七乘以向量余弦相似度加上零点三乘以关键词匹配分。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如果召回路没有找到合适的素材，生成流就会启动。生成流的核心是这条严格执行的七步串行流水线，一步都不能跳过。第一步，把源文档转换成 Markdown。第二步，创建项目工程结构。第三步，匹配模板和品牌。第四步，Strategist 做八大确认，锁定设计方案。第五步，需要的话通过 AI 生成或网络搜索获取图片。第六步，Executor 逐页手写 SVG。第七步，也是最后一步，后处理——图标嵌入、图片裁剪、文本展平，然后导出为 PPTX。整个流水线有五条铁律：严格串行、BLOCKING 硬停止、禁止跨阶段打包、spec_lock 锚定规范、手写 SVG 非脚本生成。你可能会问，为什么要这么严格？因为 PPT 的质量取决于每一步的执行精度——投机取巧的后果就是一份无法编辑的图片 PPT。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生成流最后为什么能输出高质量的原生 PPTX？答案在两个层面。第一个是质量保障体系。形式门控通过 svg_quality_checker 自动检查四件事：有没有用了被禁止的 SVG 功能、viewBox 尺寸是否一致、颜色有没有偏离 spec_lock 的规范、字体是否安全。任何 error 等级的检查都必须修复才能继续。内容门控负责验证信息覆盖的完整性和跨页的逻辑连贯性。第二个是 SVG 到 DrawingML 的原生映射。这不是简单的截图转 PPT，而是真正的格式转换——图标 use 占位符变成真实的 PowerPoint 形状，圆角矩形变成原生的 roundRect 几何，图片的 preserveAspectRatio 映射为可调整的裁剪范围，文本的行内格式保留为富文本段落。结果就是一份真正可编辑的 PPTX，文字可以改，形状可以调，不是一张张的死图片。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DeepPPT 背后有四个核心设计原则。第一，搜索优先，不吃存量。企业已有的 PPT 是最大的资产，不是负担。我们通过精确索引和语义搜索最大化召回，Mirror Fill 只在局部文字上微调，绝对不破坏原版式。第二，严肃纪律，不投机取巧。每一步都必须严格执行，每个关键节点都必须等待用户确认，每个阶段独立验证。你可以把它理解为一个极度自律的设计师，不会因为"赶时间"就跳过任何一步。第三，原生能力，不降级妥协。逐页手写 SVG 保证跨页视觉连续，DrawingML 映射保证输出格式是真正的原生 PPTX。这跟市面上那些"截图贴进 PPT"的方案完全不同。第四，可追溯，不留黑箱。每一张 AI 图片的 prompt 都记录在案，每一个设计决策都有文档可查，每一次导出都有备份快照。不投机、不跳过、不黑箱——每一步都可以被验证。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好，到这里 DeepPPT 的核心架构就介绍完了。三个关键词回顾一下：召回流，让企业存量素材变废为宝；生成流，从零创造出全新的高质量演示；原生 PPTX，输出的是真正可编辑的 PowerPoint 文档，而不是贴图。能搜就搜，搜不到就生成——这就是 DeepPPT 的核心理念。谢谢大家。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71b01e737af7e42.png"/>
  <Relationship Id="rId3" Type="http://schemas.openxmlformats.org/officeDocument/2006/relationships/notesSlide" Target="../notesSlides/notesSlide1.xml"/>
  <Relationship Id="rId4" Type="http://schemas.microsoft.com/office/2007/relationships/media" Target="../media/narration1.mp3"/>
  <Relationship Id="rId5" Type="http://schemas.openxmlformats.org/officeDocument/2006/relationships/audio" Target="../media/narration1.mp3"/>
  <Relationship Id="rId6" Type="http://schemas.openxmlformats.org/officeDocument/2006/relationships/image" Target="../media/narration_poster.pn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  <Relationship Id="rId3" Type="http://schemas.microsoft.com/office/2007/relationships/media" Target="../media/narration2.mp3"/>
  <Relationship Id="rId4" Type="http://schemas.openxmlformats.org/officeDocument/2006/relationships/audio" Target="../media/narration2.mp3"/>
  <Relationship Id="rId5" Type="http://schemas.openxmlformats.org/officeDocument/2006/relationships/image" Target="../media/narration_poster.pn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c862bb2255bb1c5.png"/>
  <Relationship Id="rId3" Type="http://schemas.openxmlformats.org/officeDocument/2006/relationships/notesSlide" Target="../notesSlides/notesSlide3.xml"/>
  <Relationship Id="rId4" Type="http://schemas.microsoft.com/office/2007/relationships/media" Target="../media/narration3.mp3"/>
  <Relationship Id="rId5" Type="http://schemas.openxmlformats.org/officeDocument/2006/relationships/audio" Target="../media/narration3.mp3"/>
  <Relationship Id="rId6" Type="http://schemas.openxmlformats.org/officeDocument/2006/relationships/image" Target="../media/narration_poster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  <Relationship Id="rId3" Type="http://schemas.microsoft.com/office/2007/relationships/media" Target="../media/narration4.mp3"/>
  <Relationship Id="rId4" Type="http://schemas.openxmlformats.org/officeDocument/2006/relationships/audio" Target="../media/narration4.mp3"/>
  <Relationship Id="rId5" Type="http://schemas.openxmlformats.org/officeDocument/2006/relationships/image" Target="../media/narration_poster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  <Relationship Id="rId3" Type="http://schemas.microsoft.com/office/2007/relationships/media" Target="../media/narration5.mp3"/>
  <Relationship Id="rId4" Type="http://schemas.openxmlformats.org/officeDocument/2006/relationships/audio" Target="../media/narration5.mp3"/>
  <Relationship Id="rId5" Type="http://schemas.openxmlformats.org/officeDocument/2006/relationships/image" Target="../media/narration_poster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35f54ff303c1db0.png"/>
  <Relationship Id="rId3" Type="http://schemas.openxmlformats.org/officeDocument/2006/relationships/notesSlide" Target="../notesSlides/notesSlide6.xml"/>
  <Relationship Id="rId4" Type="http://schemas.microsoft.com/office/2007/relationships/media" Target="../media/narration6.mp3"/>
  <Relationship Id="rId5" Type="http://schemas.openxmlformats.org/officeDocument/2006/relationships/audio" Target="../media/narration6.mp3"/>
  <Relationship Id="rId6" Type="http://schemas.openxmlformats.org/officeDocument/2006/relationships/image" Target="../media/narration_poster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  <Relationship Id="rId3" Type="http://schemas.microsoft.com/office/2007/relationships/media" Target="../media/narration7.mp3"/>
  <Relationship Id="rId4" Type="http://schemas.openxmlformats.org/officeDocument/2006/relationships/audio" Target="../media/narration7.mp3"/>
  <Relationship Id="rId5" Type="http://schemas.openxmlformats.org/officeDocument/2006/relationships/image" Target="../media/narration_poster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  <Relationship Id="rId3" Type="http://schemas.microsoft.com/office/2007/relationships/media" Target="../media/narration8.mp3"/>
  <Relationship Id="rId4" Type="http://schemas.openxmlformats.org/officeDocument/2006/relationships/audio" Target="../media/narration8.mp3"/>
  <Relationship Id="rId5" Type="http://schemas.openxmlformats.org/officeDocument/2006/relationships/image" Target="../media/narration_poster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  <Relationship Id="rId3" Type="http://schemas.microsoft.com/office/2007/relationships/media" Target="../media/narration9.mp3"/>
  <Relationship Id="rId4" Type="http://schemas.openxmlformats.org/officeDocument/2006/relationships/audio" Target="../media/narration9.mp3"/>
  <Relationship Id="rId5" Type="http://schemas.openxmlformats.org/officeDocument/2006/relationships/image" Target="../media/narration_poster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0C10">
                  <a:alpha val="30000"/>
                </a:srgbClr>
              </a:gs>
              <a:gs pos="60000">
                <a:srgbClr val="0B0C10">
                  <a:alpha val="60000"/>
                </a:srgbClr>
              </a:gs>
              <a:gs pos="100000">
                <a:srgbClr val="0B0C10">
                  <a:alpha val="92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00D4FF">
                  <a:alpha val="80000"/>
                </a:srgbClr>
              </a:gs>
              <a:gs pos="100000">
                <a:srgbClr val="7C5CFC">
                  <a:alpha val="8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42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504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2266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3028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3790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4552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124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886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648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410950" y="1123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9124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6" name="Ellipse 16"/>
          <p:cNvSpPr/>
          <p:nvPr/>
        </p:nvSpPr>
        <p:spPr>
          <a:xfrm>
            <a:off x="9886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648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11410950" y="5695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952500" y="1524000"/>
            <a:ext cx="2095500" cy="309562"/>
            <a:chOff x="952500" y="1524000"/>
            <a:chExt cx="2095500" cy="309562"/>
          </a:xfrm>
        </p:grpSpPr>
        <p:sp>
          <p:nvSpPr>
            <p:cNvPr id="19" name="Rectangle 19"/>
            <p:cNvSpPr/>
            <p:nvPr/>
          </p:nvSpPr>
          <p:spPr>
            <a:xfrm>
              <a:off x="952500" y="1524000"/>
              <a:ext cx="2095500" cy="3048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0302" y="1620202"/>
              <a:ext cx="1839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D4FF">
                      <a:alphaMod val="80000"/>
                    </a:srgbClr>
                  </a:solidFill>
                  <a:latin typeface="Segoe UI"/>
                  <a:ea typeface="Microsoft YaHei"/>
                  <a:cs typeface="Segoe UI"/>
                </a:rPr>
                <a:t>PRESENTATION INTELLIGENCE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99160" y="1832610"/>
            <a:ext cx="3451860" cy="1386840"/>
            <a:chOff x="899160" y="1832610"/>
            <a:chExt cx="3451860" cy="1386840"/>
          </a:xfrm>
        </p:grpSpPr>
        <p:sp>
          <p:nvSpPr>
            <p:cNvPr id="22" name="TextBox 22"/>
            <p:cNvSpPr txBox="1"/>
            <p:nvPr/>
          </p:nvSpPr>
          <p:spPr>
            <a:xfrm>
              <a:off x="899160" y="1832610"/>
              <a:ext cx="237076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Deep</a:t>
              </a:r>
              <a:r>
                <a:rPr lang="zh-CN" sz="4200" b="1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PPT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4400" y="2609850"/>
              <a:ext cx="343662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智能演示生成系统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52500" y="3571875"/>
            <a:ext cx="762000" cy="28575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1809750" y="3571875"/>
            <a:ext cx="381000" cy="28575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931545" y="3822382"/>
            <a:ext cx="5135547" cy="635318"/>
            <a:chOff x="931545" y="3822382"/>
            <a:chExt cx="5135547" cy="635318"/>
          </a:xfrm>
        </p:grpSpPr>
        <p:sp>
          <p:nvSpPr>
            <p:cNvPr id="27" name="TextBox 27"/>
            <p:cNvSpPr txBox="1"/>
            <p:nvPr/>
          </p:nvSpPr>
          <p:spPr>
            <a:xfrm>
              <a:off x="931545" y="3822382"/>
              <a:ext cx="51355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能搜就搜，搜不到就生成 — 从内容到演示，一步到位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260" y="4213860"/>
              <a:ext cx="46630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召回流 + 生成流 · 7 步串行流水线 · SVG 到 DrawingML 原生输出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39165" y="5982652"/>
            <a:ext cx="13358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技术产品介绍 · 2026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89820" y="4665345"/>
            <a:ext cx="14030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D4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def generate(prompt):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89820" y="4836795"/>
            <a:ext cx="12230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D4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recall() or create()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89820" y="5008245"/>
            <a:ext cx="7189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D4FF">
                    <a:alphaMod val="6000"/>
                  </a:srgbClr>
                </a:solidFill>
                <a:latin typeface="Consolas"/>
                <a:ea typeface="Microsoft YaHei"/>
                <a:cs typeface="Consolas"/>
              </a:rPr>
              <a:t>return pptx</a:t>
            </a:r>
          </a:p>
        </p:txBody>
      </p:sp>
      <p:pic>
        <p:nvPicPr>
          <p:cNvPr id="34" name="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34316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6" name="Line 6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148">
                <a:alpha val="30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714500"/>
            <a:ext cx="5238750" cy="2952750"/>
          </a:xfrm>
          <a:prstGeom prst="roundRect">
            <a:avLst>
              <a:gd name="adj" fmla="val 3871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714500"/>
            <a:ext cx="5238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71550" y="1924050"/>
            <a:ext cx="533400" cy="533400"/>
          </a:xfrm>
          <a:prstGeom prst="ellipse">
            <a:avLst/>
          </a:prstGeom>
          <a:noFill/>
          <a:ln w="19050">
            <a:solidFill>
              <a:srgbClr val="00D4FF">
                <a:alpha val="60000"/>
              </a:srgbClr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1138238" y="2090738"/>
            <a:ext cx="200025" cy="200025"/>
            <a:chOff x="1138238" y="2090738"/>
            <a:chExt cx="200025" cy="200025"/>
          </a:xfrm>
        </p:grpSpPr>
        <p:sp>
          <p:nvSpPr>
            <p:cNvPr id="12" name="Freeform 12"/>
            <p:cNvSpPr/>
            <p:nvPr/>
          </p:nvSpPr>
          <p:spPr>
            <a:xfrm>
              <a:off x="1138238" y="2090738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77787"/>
                  </a:moveTo>
                  <a:cubicBezTo>
                    <a:pt x="0" y="120748"/>
                    <a:pt x="34827" y="155575"/>
                    <a:pt x="77788" y="155575"/>
                  </a:cubicBezTo>
                  <a:cubicBezTo>
                    <a:pt x="120748" y="155575"/>
                    <a:pt x="155575" y="120748"/>
                    <a:pt x="155575" y="77787"/>
                  </a:cubicBezTo>
                  <a:cubicBezTo>
                    <a:pt x="155575" y="34827"/>
                    <a:pt x="120748" y="0"/>
                    <a:pt x="77788" y="0"/>
                  </a:cubicBezTo>
                  <a:cubicBezTo>
                    <a:pt x="34827" y="0"/>
                    <a:pt x="0" y="34827"/>
                    <a:pt x="0" y="77787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71588" y="222408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666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687830" y="205930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召回流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0212" y="2431256"/>
            <a:ext cx="8161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Recall Flow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5355" y="2902268"/>
            <a:ext cx="20595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从企业存量 PPT 素材出发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1550" y="3366135"/>
            <a:ext cx="2077974" cy="243840"/>
            <a:chOff x="971550" y="3366135"/>
            <a:chExt cx="2077974" cy="243840"/>
          </a:xfrm>
        </p:grpSpPr>
        <p:sp>
          <p:nvSpPr>
            <p:cNvPr id="18" name="Ellipse 18"/>
            <p:cNvSpPr/>
            <p:nvPr/>
          </p:nvSpPr>
          <p:spPr>
            <a:xfrm>
              <a:off x="971550" y="34004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46810" y="3366135"/>
              <a:ext cx="19027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索引构建 → 精确/模糊检索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1550" y="3651885"/>
            <a:ext cx="2790063" cy="243840"/>
            <a:chOff x="971550" y="3651885"/>
            <a:chExt cx="2790063" cy="243840"/>
          </a:xfrm>
        </p:grpSpPr>
        <p:sp>
          <p:nvSpPr>
            <p:cNvPr id="21" name="Ellipse 21"/>
            <p:cNvSpPr/>
            <p:nvPr/>
          </p:nvSpPr>
          <p:spPr>
            <a:xfrm>
              <a:off x="971550" y="368617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46810" y="3651885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PPT_Recall + LLM_Search 双重检索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1550" y="3937635"/>
            <a:ext cx="2149983" cy="243840"/>
            <a:chOff x="971550" y="3937635"/>
            <a:chExt cx="2149983" cy="243840"/>
          </a:xfrm>
        </p:grpSpPr>
        <p:sp>
          <p:nvSpPr>
            <p:cNvPr id="24" name="Ellipse 24"/>
            <p:cNvSpPr/>
            <p:nvPr/>
          </p:nvSpPr>
          <p:spPr>
            <a:xfrm>
              <a:off x="971550" y="39719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46810" y="3937635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召回局部微调 · Mirror Fill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6381750" y="1714500"/>
            <a:ext cx="5238750" cy="2952750"/>
          </a:xfrm>
          <a:prstGeom prst="roundRect">
            <a:avLst>
              <a:gd name="adj" fmla="val 3871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381750" y="1714500"/>
            <a:ext cx="5238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6781800" y="1924050"/>
            <a:ext cx="533400" cy="533400"/>
          </a:xfrm>
          <a:prstGeom prst="ellipse">
            <a:avLst/>
          </a:prstGeom>
          <a:noFill/>
          <a:ln w="19050">
            <a:solidFill>
              <a:srgbClr val="7C5CFC">
                <a:alpha val="60000"/>
              </a:srgbClr>
            </a:solidFill>
          </a:ln>
        </p:spPr>
      </p:sp>
      <p:grpSp>
        <p:nvGrpSpPr>
          <p:cNvPr id="34" name="Group 34"/>
          <p:cNvGrpSpPr/>
          <p:nvPr/>
        </p:nvGrpSpPr>
        <p:grpSpPr>
          <a:xfrm>
            <a:off x="6948488" y="2090738"/>
            <a:ext cx="200025" cy="200025"/>
            <a:chOff x="6948488" y="2090738"/>
            <a:chExt cx="200025" cy="200025"/>
          </a:xfrm>
        </p:grpSpPr>
        <p:sp>
          <p:nvSpPr>
            <p:cNvPr id="30" name="Freeform 30"/>
            <p:cNvSpPr/>
            <p:nvPr/>
          </p:nvSpPr>
          <p:spPr>
            <a:xfrm>
              <a:off x="6948488" y="209073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33338" y="200025"/>
                  </a:moveTo>
                  <a:lnTo>
                    <a:pt x="200025" y="33338"/>
                  </a:lnTo>
                  <a:lnTo>
                    <a:pt x="166688" y="0"/>
                  </a:lnTo>
                  <a:lnTo>
                    <a:pt x="0" y="166688"/>
                  </a:lnTo>
                  <a:lnTo>
                    <a:pt x="33338" y="2000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081838" y="2124075"/>
              <a:ext cx="33338" cy="33338"/>
            </a:xfrm>
            <a:custGeom>
              <a:avLst/>
              <a:gdLst/>
              <a:ahLst/>
              <a:cxnLst/>
              <a:rect l="l" t="t" r="r" b="b"/>
              <a:pathLst>
                <a:path w="33338" h="33338">
                  <a:moveTo>
                    <a:pt x="0" y="0"/>
                  </a:moveTo>
                  <a:lnTo>
                    <a:pt x="33338" y="33338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992938" y="209073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225" y="0"/>
                  </a:moveTo>
                  <a:cubicBezTo>
                    <a:pt x="22225" y="12275"/>
                    <a:pt x="32175" y="22225"/>
                    <a:pt x="44450" y="22225"/>
                  </a:cubicBezTo>
                  <a:cubicBezTo>
                    <a:pt x="32175" y="22225"/>
                    <a:pt x="22225" y="32175"/>
                    <a:pt x="22225" y="44450"/>
                  </a:cubicBezTo>
                  <a:cubicBezTo>
                    <a:pt x="22225" y="32175"/>
                    <a:pt x="12275" y="22225"/>
                    <a:pt x="0" y="22225"/>
                  </a:cubicBezTo>
                  <a:cubicBezTo>
                    <a:pt x="12275" y="22225"/>
                    <a:pt x="22225" y="12275"/>
                    <a:pt x="22225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04062" y="220186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22225" y="0"/>
                  </a:moveTo>
                  <a:cubicBezTo>
                    <a:pt x="22225" y="12275"/>
                    <a:pt x="32175" y="22225"/>
                    <a:pt x="44450" y="22225"/>
                  </a:cubicBezTo>
                  <a:cubicBezTo>
                    <a:pt x="32175" y="22225"/>
                    <a:pt x="22225" y="32175"/>
                    <a:pt x="22225" y="44450"/>
                  </a:cubicBezTo>
                  <a:cubicBezTo>
                    <a:pt x="22225" y="32175"/>
                    <a:pt x="12275" y="22225"/>
                    <a:pt x="0" y="22225"/>
                  </a:cubicBezTo>
                  <a:cubicBezTo>
                    <a:pt x="12275" y="22225"/>
                    <a:pt x="22225" y="12275"/>
                    <a:pt x="22225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7498080" y="205930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生成流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10462" y="2431256"/>
            <a:ext cx="1183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Generation Flow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45605" y="290226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从零创造全新演示内容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781800" y="3366135"/>
            <a:ext cx="2125980" cy="243840"/>
            <a:chOff x="6781800" y="3366135"/>
            <a:chExt cx="2125980" cy="243840"/>
          </a:xfrm>
        </p:grpSpPr>
        <p:sp>
          <p:nvSpPr>
            <p:cNvPr id="38" name="Ellipse 38"/>
            <p:cNvSpPr/>
            <p:nvPr/>
          </p:nvSpPr>
          <p:spPr>
            <a:xfrm>
              <a:off x="6781800" y="34004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57060" y="336613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7 步串行流水线 · 严格纪律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81800" y="3651885"/>
            <a:ext cx="2141982" cy="243840"/>
            <a:chOff x="6781800" y="3651885"/>
            <a:chExt cx="2141982" cy="243840"/>
          </a:xfrm>
        </p:grpSpPr>
        <p:sp>
          <p:nvSpPr>
            <p:cNvPr id="41" name="Ellipse 41"/>
            <p:cNvSpPr/>
            <p:nvPr/>
          </p:nvSpPr>
          <p:spPr>
            <a:xfrm>
              <a:off x="6781800" y="368617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57060" y="3651885"/>
              <a:ext cx="19667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多角色协作 · 逐页手写 SVG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81800" y="3937635"/>
            <a:ext cx="2237994" cy="243840"/>
            <a:chOff x="6781800" y="3937635"/>
            <a:chExt cx="2237994" cy="243840"/>
          </a:xfrm>
        </p:grpSpPr>
        <p:sp>
          <p:nvSpPr>
            <p:cNvPr id="44" name="Ellipse 44"/>
            <p:cNvSpPr/>
            <p:nvPr/>
          </p:nvSpPr>
          <p:spPr>
            <a:xfrm>
              <a:off x="6781800" y="39719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57060" y="3937635"/>
              <a:ext cx="20627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SVG → DrawingML 原生 PPTX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4343400"/>
            <a:ext cx="457200" cy="457200"/>
            <a:chOff x="5581650" y="4343400"/>
            <a:chExt cx="457200" cy="457200"/>
          </a:xfrm>
        </p:grpSpPr>
        <p:sp>
          <p:nvSpPr>
            <p:cNvPr id="47" name="Rectangle 47"/>
            <p:cNvSpPr/>
            <p:nvPr/>
          </p:nvSpPr>
          <p:spPr>
            <a:xfrm>
              <a:off x="5581650" y="4343400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36193" y="4467225"/>
              <a:ext cx="1481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⇄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217289" y="5265420"/>
            <a:ext cx="3757422" cy="773430"/>
            <a:chOff x="4217289" y="5265420"/>
            <a:chExt cx="3757422" cy="773430"/>
          </a:xfrm>
        </p:grpSpPr>
        <p:sp>
          <p:nvSpPr>
            <p:cNvPr id="50" name="TextBox 50"/>
            <p:cNvSpPr txBox="1"/>
            <p:nvPr/>
          </p:nvSpPr>
          <p:spPr>
            <a:xfrm>
              <a:off x="4217289" y="5265420"/>
              <a:ext cx="37574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能搜就搜，搜不到就生成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20540" y="579501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召回流优先，生成流兜底。双流协同，智能决策。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58165" y="4581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核心理念</a:t>
            </a:r>
          </a:p>
        </p:txBody>
      </p:sp>
      <p:pic>
        <p:nvPicPr>
          <p:cNvPr id="54" name="narration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41252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1174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双流架构</a:t>
            </a:r>
            <a:r>
              <a:rPr lang="zh-CN" sz="12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 xml:space="preserve"> · 总览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11686" r="0" b="11686"/>
          <a:stretch>
            <a:fillRect/>
          </a:stretch>
        </p:blipFill>
        <p:spPr>
          <a:xfrm>
            <a:off x="571500" y="762000"/>
            <a:ext cx="11049000" cy="47625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571500" y="762000"/>
            <a:ext cx="11049000" cy="4762500"/>
          </a:xfrm>
          <a:prstGeom prst="rect">
            <a:avLst/>
          </a:prstGeom>
          <a:solidFill>
            <a:srgbClr val="0B0C10">
              <a:alpha val="15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476250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151724">
              <a:alpha val="90000"/>
            </a:srgbClr>
          </a:solidFill>
          <a:ln w="9525">
            <a:solidFill>
              <a:srgbClr val="00D4FF">
                <a:alpha val="5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37260" y="48806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召回流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0118" y="5114449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PPT_Recall + LLM_Search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1070" y="5332095"/>
            <a:ext cx="17390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索引搜索 · 语义匹配 · 微调复用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762500" y="476250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151724">
              <a:alpha val="90000"/>
            </a:srgbClr>
          </a:solidFill>
          <a:ln w="9525">
            <a:solidFill>
              <a:srgbClr val="FF6B6B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937760" y="48806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6B6B"/>
                </a:solidFill>
                <a:latin typeface="Segoe UI"/>
                <a:ea typeface="Microsoft YaHei"/>
                <a:cs typeface="Segoe UI"/>
              </a:rPr>
              <a:t>门控体系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40618" y="5114449"/>
            <a:ext cx="12144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形式门控 + 内容门控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41570" y="5332095"/>
            <a:ext cx="1715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SVG 质量检查 · 逻辑完整性验证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763000" y="476250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151724">
              <a:alpha val="90000"/>
            </a:srgbClr>
          </a:solidFill>
          <a:ln w="9525">
            <a:solidFill>
              <a:srgbClr val="7C5CFC">
                <a:alpha val="5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938260" y="4880610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生成流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41118" y="5114449"/>
            <a:ext cx="9153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7 步串行流水线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42070" y="5332095"/>
            <a:ext cx="13730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70000"/>
                  </a:srgbClr>
                </a:solidFill>
                <a:latin typeface="Segoe UI"/>
                <a:ea typeface="Microsoft YaHei"/>
                <a:cs typeface="Segoe UI"/>
              </a:rPr>
              <a:t>SVG → DrawingML → PPTX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429000" y="5143500"/>
            <a:ext cx="5381625" cy="95250"/>
            <a:chOff x="3429000" y="5143500"/>
            <a:chExt cx="5381625" cy="95250"/>
          </a:xfrm>
        </p:grpSpPr>
        <p:sp>
          <p:nvSpPr>
            <p:cNvPr id="19" name="Line 19"/>
            <p:cNvSpPr/>
            <p:nvPr/>
          </p:nvSpPr>
          <p:spPr>
            <a:xfrm>
              <a:off x="3429000" y="5191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714875" y="5143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429500" y="5191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8715375" y="5143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noFill/>
            <a:ln w="14288">
              <a:solidFill>
                <a:srgbClr val="2D3148">
                  <a:alpha val="50000"/>
                </a:srgbClr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4538312" y="5855018"/>
            <a:ext cx="31153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召回流优先 → 门控判定 → 生成流兜底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04443" y="6173152"/>
            <a:ext cx="35831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双流协同，智能决策 — 企业存量素材复用率达到 80% 以上</a:t>
            </a:r>
          </a:p>
        </p:txBody>
      </p:sp>
      <p:pic>
        <p:nvPicPr>
          <p:cNvPr id="26" name="narration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47636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2134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召回流</a:t>
            </a:r>
            <a:r>
              <a:rPr lang="zh-CN" sz="12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 xml:space="preserve"> · 精确索引与语义召回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545" y="679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召回架构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850900" y="1600200"/>
            <a:ext cx="203200" cy="228600"/>
            <a:chOff x="850900" y="1600200"/>
            <a:chExt cx="203200" cy="228600"/>
          </a:xfrm>
        </p:grpSpPr>
        <p:sp>
          <p:nvSpPr>
            <p:cNvPr id="8" name="Freeform 8"/>
            <p:cNvSpPr/>
            <p:nvPr/>
          </p:nvSpPr>
          <p:spPr>
            <a:xfrm>
              <a:off x="850900" y="1600200"/>
              <a:ext cx="203200" cy="76200"/>
            </a:xfrm>
            <a:custGeom>
              <a:avLst/>
              <a:gdLst/>
              <a:ahLst/>
              <a:cxnLst/>
              <a:rect l="l" t="t" r="r" b="b"/>
              <a:pathLst>
                <a:path w="203200" h="76200">
                  <a:moveTo>
                    <a:pt x="0" y="38100"/>
                  </a:moveTo>
                  <a:cubicBezTo>
                    <a:pt x="0" y="59142"/>
                    <a:pt x="45488" y="76200"/>
                    <a:pt x="101600" y="76200"/>
                  </a:cubicBezTo>
                  <a:cubicBezTo>
                    <a:pt x="157712" y="76200"/>
                    <a:pt x="203200" y="59142"/>
                    <a:pt x="203200" y="38100"/>
                  </a:cubicBezTo>
                  <a:cubicBezTo>
                    <a:pt x="203200" y="17058"/>
                    <a:pt x="157712" y="0"/>
                    <a:pt x="101600" y="0"/>
                  </a:cubicBezTo>
                  <a:cubicBezTo>
                    <a:pt x="45488" y="0"/>
                    <a:pt x="0" y="17058"/>
                    <a:pt x="0" y="38100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50900" y="1638300"/>
              <a:ext cx="203200" cy="114300"/>
            </a:xfrm>
            <a:custGeom>
              <a:avLst/>
              <a:gdLst/>
              <a:ahLst/>
              <a:cxnLst/>
              <a:rect l="l" t="t" r="r" b="b"/>
              <a:pathLst>
                <a:path w="203200" h="114300">
                  <a:moveTo>
                    <a:pt x="0" y="0"/>
                  </a:moveTo>
                  <a:lnTo>
                    <a:pt x="0" y="76200"/>
                  </a:lnTo>
                  <a:cubicBezTo>
                    <a:pt x="0" y="97242"/>
                    <a:pt x="45488" y="114300"/>
                    <a:pt x="101600" y="114300"/>
                  </a:cubicBezTo>
                  <a:cubicBezTo>
                    <a:pt x="157712" y="114300"/>
                    <a:pt x="203200" y="97242"/>
                    <a:pt x="203200" y="76200"/>
                  </a:cubicBezTo>
                  <a:lnTo>
                    <a:pt x="203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50900" y="1714500"/>
              <a:ext cx="203200" cy="114300"/>
            </a:xfrm>
            <a:custGeom>
              <a:avLst/>
              <a:gdLst/>
              <a:ahLst/>
              <a:cxnLst/>
              <a:rect l="l" t="t" r="r" b="b"/>
              <a:pathLst>
                <a:path w="203200" h="114300">
                  <a:moveTo>
                    <a:pt x="0" y="0"/>
                  </a:moveTo>
                  <a:lnTo>
                    <a:pt x="0" y="76200"/>
                  </a:lnTo>
                  <a:cubicBezTo>
                    <a:pt x="0" y="97242"/>
                    <a:pt x="45488" y="114300"/>
                    <a:pt x="101600" y="114300"/>
                  </a:cubicBezTo>
                  <a:cubicBezTo>
                    <a:pt x="157712" y="114300"/>
                    <a:pt x="203200" y="97242"/>
                    <a:pt x="203200" y="76200"/>
                  </a:cubicBezTo>
                  <a:lnTo>
                    <a:pt x="203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40155" y="15497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数据源入口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4918" y="1799749"/>
            <a:ext cx="2020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企业 PPT 存量 · PDF · 图片 · 文本</a:t>
            </a:r>
          </a:p>
        </p:txBody>
      </p:sp>
      <p:sp>
        <p:nvSpPr>
          <p:cNvPr id="14" name="Line 14"/>
          <p:cNvSpPr/>
          <p:nvPr/>
        </p:nvSpPr>
        <p:spPr>
          <a:xfrm>
            <a:off x="3143250" y="21145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095625" y="22574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23622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850900" y="2628900"/>
            <a:ext cx="203200" cy="228600"/>
            <a:chOff x="850900" y="2628900"/>
            <a:chExt cx="203200" cy="228600"/>
          </a:xfrm>
        </p:grpSpPr>
        <p:sp>
          <p:nvSpPr>
            <p:cNvPr id="17" name="Freeform 17"/>
            <p:cNvSpPr/>
            <p:nvPr/>
          </p:nvSpPr>
          <p:spPr>
            <a:xfrm>
              <a:off x="850900" y="2628900"/>
              <a:ext cx="203200" cy="228600"/>
            </a:xfrm>
            <a:custGeom>
              <a:avLst/>
              <a:gdLst/>
              <a:ahLst/>
              <a:cxnLst/>
              <a:rect l="l" t="t" r="r" b="b"/>
              <a:pathLst>
                <a:path w="203200" h="228600">
                  <a:moveTo>
                    <a:pt x="101600" y="0"/>
                  </a:moveTo>
                  <a:lnTo>
                    <a:pt x="203200" y="57150"/>
                  </a:lnTo>
                  <a:lnTo>
                    <a:pt x="203200" y="171450"/>
                  </a:lnTo>
                  <a:lnTo>
                    <a:pt x="101600" y="228600"/>
                  </a:lnTo>
                  <a:lnTo>
                    <a:pt x="0" y="171450"/>
                  </a:lnTo>
                  <a:lnTo>
                    <a:pt x="0" y="57150"/>
                  </a:ln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952500" y="2686050"/>
              <a:ext cx="101600" cy="57150"/>
            </a:xfrm>
            <a:custGeom>
              <a:avLst/>
              <a:gdLst/>
              <a:ahLst/>
              <a:cxnLst/>
              <a:rect l="l" t="t" r="r" b="b"/>
              <a:pathLst>
                <a:path w="101600" h="57150">
                  <a:moveTo>
                    <a:pt x="0" y="57150"/>
                  </a:moveTo>
                  <a:lnTo>
                    <a:pt x="1016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52500" y="27432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50900" y="2686050"/>
              <a:ext cx="101600" cy="57150"/>
            </a:xfrm>
            <a:custGeom>
              <a:avLst/>
              <a:gdLst/>
              <a:ahLst/>
              <a:cxnLst/>
              <a:rect l="l" t="t" r="r" b="b"/>
              <a:pathLst>
                <a:path w="101600" h="57150">
                  <a:moveTo>
                    <a:pt x="101600" y="57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240155" y="25784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索引构建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44918" y="2828449"/>
            <a:ext cx="27096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关键词精确索引 · FAISS 向量库 · Slide 级粒度</a:t>
            </a:r>
          </a:p>
        </p:txBody>
      </p:sp>
      <p:sp>
        <p:nvSpPr>
          <p:cNvPr id="24" name="Line 24"/>
          <p:cNvSpPr/>
          <p:nvPr/>
        </p:nvSpPr>
        <p:spPr>
          <a:xfrm>
            <a:off x="3143250" y="31432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3095625" y="32861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33909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00D4FF">
                <a:alpha val="50000"/>
              </a:srgbClr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838200" y="3657600"/>
            <a:ext cx="228600" cy="228600"/>
            <a:chOff x="838200" y="3657600"/>
            <a:chExt cx="228600" cy="228600"/>
          </a:xfrm>
        </p:grpSpPr>
        <p:sp>
          <p:nvSpPr>
            <p:cNvPr id="27" name="Freeform 27"/>
            <p:cNvSpPr/>
            <p:nvPr/>
          </p:nvSpPr>
          <p:spPr>
            <a:xfrm>
              <a:off x="838200" y="365760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0" y="88900"/>
                  </a:move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ubicBezTo>
                    <a:pt x="39802" y="0"/>
                    <a:pt x="0" y="39802"/>
                    <a:pt x="0" y="88900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90600" y="3810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240155" y="36071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搜索与召回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4918" y="3857149"/>
            <a:ext cx="3619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PPT_Recall 关键词级 · LLM_Search 语义级 · 混合打分 Top-K</a:t>
            </a:r>
          </a:p>
        </p:txBody>
      </p:sp>
      <p:sp>
        <p:nvSpPr>
          <p:cNvPr id="32" name="Line 32"/>
          <p:cNvSpPr/>
          <p:nvPr/>
        </p:nvSpPr>
        <p:spPr>
          <a:xfrm>
            <a:off x="3143250" y="41719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3095625" y="43148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571500" y="4419600"/>
            <a:ext cx="5143500" cy="762000"/>
          </a:xfrm>
          <a:prstGeom prst="roundRect">
            <a:avLst>
              <a:gd name="adj" fmla="val 125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838200" y="4686300"/>
            <a:ext cx="228600" cy="228600"/>
            <a:chOff x="838200" y="4686300"/>
            <a:chExt cx="228600" cy="228600"/>
          </a:xfrm>
        </p:grpSpPr>
        <p:sp>
          <p:nvSpPr>
            <p:cNvPr id="35" name="Freeform 35"/>
            <p:cNvSpPr/>
            <p:nvPr/>
          </p:nvSpPr>
          <p:spPr>
            <a:xfrm>
              <a:off x="838200" y="46863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228600"/>
                  </a:moveTo>
                  <a:lnTo>
                    <a:pt x="228600" y="38100"/>
                  </a:lnTo>
                  <a:lnTo>
                    <a:pt x="190500" y="0"/>
                  </a:lnTo>
                  <a:lnTo>
                    <a:pt x="0" y="190500"/>
                  </a:lnTo>
                  <a:lnTo>
                    <a:pt x="38100" y="2286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90600" y="472440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0"/>
                  </a:moveTo>
                  <a:lnTo>
                    <a:pt x="38100" y="381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89000" y="4686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0"/>
                  </a:moveTo>
                  <a:cubicBezTo>
                    <a:pt x="25400" y="14028"/>
                    <a:pt x="36772" y="25400"/>
                    <a:pt x="50800" y="25400"/>
                  </a:cubicBezTo>
                  <a:cubicBezTo>
                    <a:pt x="36772" y="25400"/>
                    <a:pt x="25400" y="36772"/>
                    <a:pt x="25400" y="50800"/>
                  </a:cubicBezTo>
                  <a:cubicBezTo>
                    <a:pt x="25400" y="36772"/>
                    <a:pt x="14028" y="25400"/>
                    <a:pt x="0" y="25400"/>
                  </a:cubicBezTo>
                  <a:cubicBezTo>
                    <a:pt x="14028" y="25400"/>
                    <a:pt x="25400" y="14028"/>
                    <a:pt x="25400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16000" y="48133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400" y="0"/>
                  </a:moveTo>
                  <a:cubicBezTo>
                    <a:pt x="25400" y="14028"/>
                    <a:pt x="36772" y="25400"/>
                    <a:pt x="50800" y="25400"/>
                  </a:cubicBezTo>
                  <a:cubicBezTo>
                    <a:pt x="36772" y="25400"/>
                    <a:pt x="25400" y="36772"/>
                    <a:pt x="25400" y="50800"/>
                  </a:cubicBezTo>
                  <a:cubicBezTo>
                    <a:pt x="25400" y="36772"/>
                    <a:pt x="14028" y="25400"/>
                    <a:pt x="0" y="25400"/>
                  </a:cubicBezTo>
                  <a:cubicBezTo>
                    <a:pt x="14028" y="25400"/>
                    <a:pt x="25400" y="14028"/>
                    <a:pt x="25400" y="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1240155" y="46358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局部微调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4918" y="4885849"/>
            <a:ext cx="27226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Mirror Fill 文字替换 · XML 级精准 · 保持版式</a:t>
            </a:r>
          </a:p>
        </p:txBody>
      </p:sp>
      <p:sp>
        <p:nvSpPr>
          <p:cNvPr id="42" name="Line 42"/>
          <p:cNvSpPr/>
          <p:nvPr/>
        </p:nvSpPr>
        <p:spPr>
          <a:xfrm>
            <a:off x="3143250" y="520065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2D3148"/>
            </a:solidFill>
          </a:ln>
        </p:spPr>
      </p:sp>
      <p:sp>
        <p:nvSpPr>
          <p:cNvPr id="43" name="Polygon 43"/>
          <p:cNvSpPr/>
          <p:nvPr/>
        </p:nvSpPr>
        <p:spPr>
          <a:xfrm>
            <a:off x="3095625" y="53435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47625" y="76200"/>
                </a:lnTo>
                <a:lnTo>
                  <a:pt x="95250" y="0"/>
                </a:lnTo>
                <a:close/>
              </a:path>
            </a:pathLst>
          </a:custGeom>
          <a:solidFill>
            <a:srgbClr val="2D3148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71500" y="5448300"/>
            <a:ext cx="5143500" cy="619125"/>
          </a:xfrm>
          <a:prstGeom prst="roundRect">
            <a:avLst>
              <a:gd name="adj" fmla="val 15385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844550" y="5698012"/>
            <a:ext cx="177800" cy="186375"/>
            <a:chOff x="844550" y="5698012"/>
            <a:chExt cx="177800" cy="186375"/>
          </a:xfrm>
        </p:grpSpPr>
        <p:sp>
          <p:nvSpPr>
            <p:cNvPr id="45" name="Freeform 45"/>
            <p:cNvSpPr/>
            <p:nvPr/>
          </p:nvSpPr>
          <p:spPr>
            <a:xfrm>
              <a:off x="844550" y="5698012"/>
              <a:ext cx="177800" cy="82075"/>
            </a:xfrm>
            <a:custGeom>
              <a:avLst/>
              <a:gdLst/>
              <a:ahLst/>
              <a:cxnLst/>
              <a:rect l="l" t="t" r="r" b="b"/>
              <a:pathLst>
                <a:path w="177800" h="82075">
                  <a:moveTo>
                    <a:pt x="177800" y="82075"/>
                  </a:moveTo>
                  <a:cubicBezTo>
                    <a:pt x="172213" y="41876"/>
                    <a:pt x="140416" y="10388"/>
                    <a:pt x="100164" y="5194"/>
                  </a:cubicBezTo>
                  <a:cubicBezTo>
                    <a:pt x="59913" y="0"/>
                    <a:pt x="21164" y="22386"/>
                    <a:pt x="5556" y="59850"/>
                  </a:cubicBezTo>
                  <a:moveTo>
                    <a:pt x="0" y="15400"/>
                  </a:moveTo>
                  <a:lnTo>
                    <a:pt x="0" y="59850"/>
                  </a:lnTo>
                  <a:lnTo>
                    <a:pt x="44450" y="59850"/>
                  </a:lnTo>
                </a:path>
              </a:pathLst>
            </a:custGeom>
            <a:noFill/>
            <a:ln w="19050">
              <a:solidFill>
                <a:srgbClr val="9CA3A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44550" y="5802312"/>
              <a:ext cx="177800" cy="82075"/>
            </a:xfrm>
            <a:custGeom>
              <a:avLst/>
              <a:gdLst/>
              <a:ahLst/>
              <a:cxnLst/>
              <a:rect l="l" t="t" r="r" b="b"/>
              <a:pathLst>
                <a:path w="177800" h="82075">
                  <a:moveTo>
                    <a:pt x="0" y="0"/>
                  </a:moveTo>
                  <a:cubicBezTo>
                    <a:pt x="5587" y="40199"/>
                    <a:pt x="37384" y="71687"/>
                    <a:pt x="77636" y="76881"/>
                  </a:cubicBezTo>
                  <a:cubicBezTo>
                    <a:pt x="117887" y="82075"/>
                    <a:pt x="156636" y="59689"/>
                    <a:pt x="172244" y="22225"/>
                  </a:cubicBezTo>
                  <a:moveTo>
                    <a:pt x="177800" y="66675"/>
                  </a:moveTo>
                  <a:lnTo>
                    <a:pt x="177800" y="22225"/>
                  </a:lnTo>
                  <a:lnTo>
                    <a:pt x="133350" y="22225"/>
                  </a:lnTo>
                </a:path>
              </a:pathLst>
            </a:custGeom>
            <a:noFill/>
            <a:ln w="19050">
              <a:solidFill>
                <a:srgbClr val="9CA3AF"/>
              </a:solidFill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1203960" y="5585460"/>
            <a:ext cx="1433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Watcher 文件监听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07770" y="58083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素材变更自动触发索引增量更新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65545" y="679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关键指标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2865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6286500" y="1333500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621780" y="1306830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0.7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602855" y="15211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向量相似度权重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607618" y="1799749"/>
            <a:ext cx="27486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LLM_Search 混合评分中，向量语义匹配占 70%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286500" y="2428875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621780" y="2402205"/>
            <a:ext cx="92314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7C5CFC"/>
                </a:solidFill>
                <a:latin typeface="Consolas"/>
                <a:ea typeface="Microsoft YaHei"/>
                <a:cs typeface="Consolas"/>
              </a:rPr>
              <a:t>0.3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602855" y="26165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关键词匹配权重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607618" y="2895124"/>
            <a:ext cx="22285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精确关键词匹配占 30%，补充语义盲区</a:t>
            </a:r>
          </a:p>
        </p:txBody>
      </p:sp>
      <p:sp>
        <p:nvSpPr>
          <p:cNvPr id="60" name="Rectangle 60"/>
          <p:cNvSpPr/>
          <p:nvPr/>
        </p:nvSpPr>
        <p:spPr>
          <a:xfrm>
            <a:off x="6286500" y="3524250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621780" y="3497580"/>
            <a:ext cx="1124769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6B6B"/>
                </a:solidFill>
                <a:latin typeface="Consolas"/>
                <a:ea typeface="Microsoft YaHei"/>
                <a:cs typeface="Consolas"/>
              </a:rPr>
              <a:t>COM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602855" y="3711892"/>
            <a:ext cx="1414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PPT_Recall 引擎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607618" y="3990499"/>
            <a:ext cx="28201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Slide 级 COM 召回 · 关键词精确索引 · 秒级响应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4619625"/>
            <a:ext cx="5334000" cy="904875"/>
          </a:xfrm>
          <a:prstGeom prst="roundRect">
            <a:avLst>
              <a:gd name="adj" fmla="val 10526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6621780" y="4592955"/>
            <a:ext cx="135159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FAISS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602855" y="48072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LLM_Search 向量库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607618" y="5085874"/>
            <a:ext cx="21505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语义搜索 · 跨页面关联 · Top-K 检索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523422" y="63717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召回流最大化利用企业存量资产，避免从零重复造轮子</a:t>
            </a:r>
          </a:p>
        </p:txBody>
      </p:sp>
      <p:pic>
        <p:nvPicPr>
          <p:cNvPr id="69" name="narration4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71804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6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26148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召回流</a:t>
            </a:r>
            <a:r>
              <a:rPr lang="zh-CN" sz="12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 xml:space="preserve"> · LLM_Search 向量语义搜索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762000"/>
            <a:ext cx="11049000" cy="4953000"/>
          </a:xfrm>
          <a:prstGeom prst="roundRect">
            <a:avLst>
              <a:gd name="adj" fmla="val 2692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525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00D4FF">
                <a:alpha val="60000"/>
              </a:srgbClr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1366838" y="1538288"/>
            <a:ext cx="200025" cy="200025"/>
            <a:chOff x="1366838" y="1538288"/>
            <a:chExt cx="200025" cy="200025"/>
          </a:xfrm>
        </p:grpSpPr>
        <p:sp>
          <p:nvSpPr>
            <p:cNvPr id="7" name="Freeform 7"/>
            <p:cNvSpPr/>
            <p:nvPr/>
          </p:nvSpPr>
          <p:spPr>
            <a:xfrm>
              <a:off x="1366838" y="1538288"/>
              <a:ext cx="155575" cy="155575"/>
            </a:xfrm>
            <a:custGeom>
              <a:avLst/>
              <a:gdLst/>
              <a:ahLst/>
              <a:cxnLst/>
              <a:rect l="l" t="t" r="r" b="b"/>
              <a:pathLst>
                <a:path w="155575" h="155575">
                  <a:moveTo>
                    <a:pt x="0" y="77787"/>
                  </a:moveTo>
                  <a:cubicBezTo>
                    <a:pt x="0" y="120748"/>
                    <a:pt x="34827" y="155575"/>
                    <a:pt x="77787" y="155575"/>
                  </a:cubicBezTo>
                  <a:cubicBezTo>
                    <a:pt x="120748" y="155575"/>
                    <a:pt x="155575" y="120748"/>
                    <a:pt x="155575" y="77787"/>
                  </a:cubicBezTo>
                  <a:cubicBezTo>
                    <a:pt x="155575" y="34827"/>
                    <a:pt x="120748" y="0"/>
                    <a:pt x="77787" y="0"/>
                  </a:cubicBezTo>
                  <a:cubicBezTo>
                    <a:pt x="34827" y="0"/>
                    <a:pt x="0" y="34827"/>
                    <a:pt x="0" y="77787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00188" y="167163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666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553718" y="15373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用户查询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3525" y="18078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自然语言输入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20476" y="2006441"/>
            <a:ext cx="7690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D4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embed(query)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857500" y="1762125"/>
            <a:ext cx="523875" cy="95250"/>
            <a:chOff x="2857500" y="1762125"/>
            <a:chExt cx="523875" cy="95250"/>
          </a:xfrm>
        </p:grpSpPr>
        <p:sp>
          <p:nvSpPr>
            <p:cNvPr id="13" name="Line 13"/>
            <p:cNvSpPr/>
            <p:nvPr/>
          </p:nvSpPr>
          <p:spPr>
            <a:xfrm>
              <a:off x="2857500" y="1809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286125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 w="9525">
              <a:solidFill>
                <a:srgbClr val="00D4FF">
                  <a:alpha val="40000"/>
                </a:srgbClr>
              </a:solidFill>
            </a:ln>
          </p:spPr>
        </p:sp>
      </p:grpSp>
      <p:sp>
        <p:nvSpPr>
          <p:cNvPr id="16" name="Rectangle 16"/>
          <p:cNvSpPr/>
          <p:nvPr/>
        </p:nvSpPr>
        <p:spPr>
          <a:xfrm>
            <a:off x="34290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7C5CFC">
                <a:alpha val="60000"/>
              </a:srgbClr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3854450" y="1538288"/>
            <a:ext cx="177800" cy="200024"/>
            <a:chOff x="3854450" y="1538288"/>
            <a:chExt cx="177800" cy="200024"/>
          </a:xfrm>
        </p:grpSpPr>
        <p:sp>
          <p:nvSpPr>
            <p:cNvPr id="17" name="Freeform 17"/>
            <p:cNvSpPr/>
            <p:nvPr/>
          </p:nvSpPr>
          <p:spPr>
            <a:xfrm>
              <a:off x="3854450" y="1538288"/>
              <a:ext cx="177800" cy="66675"/>
            </a:xfrm>
            <a:custGeom>
              <a:avLst/>
              <a:gdLst/>
              <a:ahLst/>
              <a:cxnLst/>
              <a:rect l="l" t="t" r="r" b="b"/>
              <a:pathLst>
                <a:path w="177800" h="66675">
                  <a:moveTo>
                    <a:pt x="0" y="33338"/>
                  </a:moveTo>
                  <a:cubicBezTo>
                    <a:pt x="0" y="51749"/>
                    <a:pt x="39802" y="66675"/>
                    <a:pt x="88900" y="66675"/>
                  </a:cubicBezTo>
                  <a:cubicBezTo>
                    <a:pt x="137998" y="66675"/>
                    <a:pt x="177800" y="51749"/>
                    <a:pt x="177800" y="33338"/>
                  </a:cubicBezTo>
                  <a:cubicBezTo>
                    <a:pt x="177800" y="14926"/>
                    <a:pt x="137998" y="0"/>
                    <a:pt x="88900" y="0"/>
                  </a:cubicBezTo>
                  <a:cubicBezTo>
                    <a:pt x="39802" y="0"/>
                    <a:pt x="0" y="14926"/>
                    <a:pt x="0" y="33338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54450" y="1571625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7"/>
                    <a:pt x="39802" y="100012"/>
                    <a:pt x="88900" y="100012"/>
                  </a:cubicBezTo>
                  <a:cubicBezTo>
                    <a:pt x="137998" y="100012"/>
                    <a:pt x="177800" y="85087"/>
                    <a:pt x="177800" y="66675"/>
                  </a:cubicBezTo>
                  <a:lnTo>
                    <a:pt x="1778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854450" y="1638300"/>
              <a:ext cx="177800" cy="100012"/>
            </a:xfrm>
            <a:custGeom>
              <a:avLst/>
              <a:gdLst/>
              <a:ahLst/>
              <a:cxnLst/>
              <a:rect l="l" t="t" r="r" b="b"/>
              <a:pathLst>
                <a:path w="177800" h="100012">
                  <a:moveTo>
                    <a:pt x="0" y="0"/>
                  </a:moveTo>
                  <a:lnTo>
                    <a:pt x="0" y="66675"/>
                  </a:lnTo>
                  <a:cubicBezTo>
                    <a:pt x="0" y="85087"/>
                    <a:pt x="39802" y="100012"/>
                    <a:pt x="88900" y="100012"/>
                  </a:cubicBezTo>
                  <a:cubicBezTo>
                    <a:pt x="137998" y="100012"/>
                    <a:pt x="177800" y="85087"/>
                    <a:pt x="177800" y="66675"/>
                  </a:cubicBezTo>
                  <a:lnTo>
                    <a:pt x="1778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3963010" y="1537335"/>
            <a:ext cx="8369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FAISS 索引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77021" y="1807845"/>
            <a:ext cx="808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Slide 级向量库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30968" y="20064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5CFC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index.search(k)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0" y="1762125"/>
            <a:ext cx="523875" cy="95250"/>
            <a:chOff x="5334000" y="1762125"/>
            <a:chExt cx="523875" cy="95250"/>
          </a:xfrm>
        </p:grpSpPr>
        <p:sp>
          <p:nvSpPr>
            <p:cNvPr id="24" name="Line 24"/>
            <p:cNvSpPr/>
            <p:nvPr/>
          </p:nvSpPr>
          <p:spPr>
            <a:xfrm>
              <a:off x="5334000" y="1809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5762625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7C5CFC">
                <a:alpha val="40000"/>
              </a:srgbClr>
            </a:solidFill>
            <a:ln w="9525">
              <a:solidFill>
                <a:srgbClr val="7C5CFC">
                  <a:alpha val="40000"/>
                </a:srgbClr>
              </a:solidFill>
            </a:ln>
          </p:spPr>
        </p:sp>
      </p:grpSp>
      <p:sp>
        <p:nvSpPr>
          <p:cNvPr id="27" name="Rectangle 27"/>
          <p:cNvSpPr/>
          <p:nvPr/>
        </p:nvSpPr>
        <p:spPr>
          <a:xfrm>
            <a:off x="59055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00D4FF">
                <a:alpha val="60000"/>
              </a:srgbClr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6319838" y="1549400"/>
            <a:ext cx="200025" cy="187325"/>
            <a:chOff x="6319838" y="1549400"/>
            <a:chExt cx="200025" cy="187325"/>
          </a:xfrm>
        </p:grpSpPr>
        <p:sp>
          <p:nvSpPr>
            <p:cNvPr id="28" name="Freeform 28"/>
            <p:cNvSpPr/>
            <p:nvPr/>
          </p:nvSpPr>
          <p:spPr>
            <a:xfrm>
              <a:off x="6319838" y="1638300"/>
              <a:ext cx="66675" cy="88900"/>
            </a:xfrm>
            <a:custGeom>
              <a:avLst/>
              <a:gdLst/>
              <a:ahLst/>
              <a:cxnLst/>
              <a:rect l="l" t="t" r="r" b="b"/>
              <a:pathLst>
                <a:path w="66675" h="88900">
                  <a:moveTo>
                    <a:pt x="0" y="11112"/>
                  </a:moveTo>
                  <a:cubicBezTo>
                    <a:pt x="0" y="4975"/>
                    <a:pt x="4975" y="0"/>
                    <a:pt x="11112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2"/>
                  </a:cubicBezTo>
                  <a:lnTo>
                    <a:pt x="66675" y="77787"/>
                  </a:lnTo>
                  <a:cubicBezTo>
                    <a:pt x="66675" y="83925"/>
                    <a:pt x="61700" y="88900"/>
                    <a:pt x="55563" y="88900"/>
                  </a:cubicBezTo>
                  <a:lnTo>
                    <a:pt x="11112" y="88900"/>
                  </a:lnTo>
                  <a:cubicBezTo>
                    <a:pt x="4975" y="88900"/>
                    <a:pt x="0" y="83925"/>
                    <a:pt x="0" y="77787"/>
                  </a:cubicBezTo>
                  <a:lnTo>
                    <a:pt x="0" y="11112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453188" y="1593850"/>
              <a:ext cx="66675" cy="133350"/>
            </a:xfrm>
            <a:custGeom>
              <a:avLst/>
              <a:gdLst/>
              <a:ahLst/>
              <a:cxnLst/>
              <a:rect l="l" t="t" r="r" b="b"/>
              <a:pathLst>
                <a:path w="66675" h="133350">
                  <a:moveTo>
                    <a:pt x="0" y="11112"/>
                  </a:moveTo>
                  <a:cubicBezTo>
                    <a:pt x="0" y="4975"/>
                    <a:pt x="4975" y="0"/>
                    <a:pt x="11112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2"/>
                  </a:cubicBezTo>
                  <a:lnTo>
                    <a:pt x="66675" y="122237"/>
                  </a:lnTo>
                  <a:cubicBezTo>
                    <a:pt x="66675" y="128375"/>
                    <a:pt x="61700" y="133350"/>
                    <a:pt x="55563" y="133350"/>
                  </a:cubicBezTo>
                  <a:lnTo>
                    <a:pt x="11112" y="133350"/>
                  </a:lnTo>
                  <a:cubicBezTo>
                    <a:pt x="4975" y="133350"/>
                    <a:pt x="0" y="128375"/>
                    <a:pt x="0" y="122237"/>
                  </a:cubicBezTo>
                  <a:lnTo>
                    <a:pt x="0" y="11112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386512" y="1549400"/>
              <a:ext cx="66675" cy="177800"/>
            </a:xfrm>
            <a:custGeom>
              <a:avLst/>
              <a:gdLst/>
              <a:ahLst/>
              <a:cxnLst/>
              <a:rect l="l" t="t" r="r" b="b"/>
              <a:pathLst>
                <a:path w="66675" h="177800">
                  <a:moveTo>
                    <a:pt x="0" y="11113"/>
                  </a:moveTo>
                  <a:cubicBezTo>
                    <a:pt x="0" y="4975"/>
                    <a:pt x="4975" y="0"/>
                    <a:pt x="11112" y="0"/>
                  </a:cubicBezTo>
                  <a:lnTo>
                    <a:pt x="55563" y="0"/>
                  </a:lnTo>
                  <a:cubicBezTo>
                    <a:pt x="61700" y="0"/>
                    <a:pt x="66675" y="4975"/>
                    <a:pt x="66675" y="11113"/>
                  </a:cubicBezTo>
                  <a:lnTo>
                    <a:pt x="66675" y="166688"/>
                  </a:lnTo>
                  <a:cubicBezTo>
                    <a:pt x="66675" y="172825"/>
                    <a:pt x="61700" y="177800"/>
                    <a:pt x="55563" y="177800"/>
                  </a:cubicBezTo>
                  <a:lnTo>
                    <a:pt x="11112" y="177800"/>
                  </a:lnTo>
                  <a:cubicBezTo>
                    <a:pt x="4975" y="177800"/>
                    <a:pt x="0" y="172825"/>
                    <a:pt x="0" y="166688"/>
                  </a:cubicBezTo>
                  <a:lnTo>
                    <a:pt x="0" y="11113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330950" y="1727200"/>
              <a:ext cx="155575" cy="9525"/>
            </a:xfrm>
            <a:custGeom>
              <a:avLst/>
              <a:gdLst/>
              <a:ahLst/>
              <a:cxnLst/>
              <a:rect l="l" t="t" r="r" b="b"/>
              <a:pathLst>
                <a:path w="155575" h="9525">
                  <a:moveTo>
                    <a:pt x="0" y="0"/>
                  </a:moveTo>
                  <a:lnTo>
                    <a:pt x="155575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6422708" y="15373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相似度打分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43495" y="1807845"/>
            <a:ext cx="12290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向量 0.7 + 关键词 0.3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60712" y="2006441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00D4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score = 0.7v+0.3k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810500" y="1762125"/>
            <a:ext cx="523875" cy="95250"/>
            <a:chOff x="7810500" y="1762125"/>
            <a:chExt cx="523875" cy="95250"/>
          </a:xfrm>
        </p:grpSpPr>
        <p:sp>
          <p:nvSpPr>
            <p:cNvPr id="36" name="Line 36"/>
            <p:cNvSpPr/>
            <p:nvPr/>
          </p:nvSpPr>
          <p:spPr>
            <a:xfrm>
              <a:off x="7810500" y="1809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239125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 w="9525">
              <a:solidFill>
                <a:srgbClr val="00D4FF">
                  <a:alpha val="40000"/>
                </a:srgbClr>
              </a:solidFill>
            </a:ln>
          </p:spPr>
        </p:sp>
      </p:grpSp>
      <p:sp>
        <p:nvSpPr>
          <p:cNvPr id="39" name="Rectangle 39"/>
          <p:cNvSpPr/>
          <p:nvPr/>
        </p:nvSpPr>
        <p:spPr>
          <a:xfrm>
            <a:off x="8382000" y="1333500"/>
            <a:ext cx="1905000" cy="952500"/>
          </a:xfrm>
          <a:prstGeom prst="roundRect">
            <a:avLst>
              <a:gd name="adj" fmla="val 10000"/>
            </a:avLst>
          </a:prstGeom>
          <a:solidFill>
            <a:srgbClr val="0B0C10"/>
          </a:solidFill>
          <a:ln w="9525">
            <a:solidFill>
              <a:srgbClr val="7C5CFC">
                <a:alpha val="60000"/>
              </a:srgbClr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8796338" y="1538288"/>
            <a:ext cx="200025" cy="200025"/>
            <a:chOff x="8796338" y="1538288"/>
            <a:chExt cx="200025" cy="200025"/>
          </a:xfrm>
        </p:grpSpPr>
        <p:sp>
          <p:nvSpPr>
            <p:cNvPr id="40" name="Freeform 40"/>
            <p:cNvSpPr/>
            <p:nvPr/>
          </p:nvSpPr>
          <p:spPr>
            <a:xfrm>
              <a:off x="8885238" y="1627188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0" y="11112"/>
                  </a:moveTo>
                  <a:cubicBezTo>
                    <a:pt x="0" y="17250"/>
                    <a:pt x="4975" y="22225"/>
                    <a:pt x="11112" y="22225"/>
                  </a:cubicBezTo>
                  <a:cubicBezTo>
                    <a:pt x="17250" y="22225"/>
                    <a:pt x="22225" y="17250"/>
                    <a:pt x="22225" y="11112"/>
                  </a:cubicBezTo>
                  <a:cubicBezTo>
                    <a:pt x="22225" y="4975"/>
                    <a:pt x="17250" y="0"/>
                    <a:pt x="11112" y="0"/>
                  </a:cubicBezTo>
                  <a:cubicBezTo>
                    <a:pt x="4975" y="0"/>
                    <a:pt x="0" y="4975"/>
                    <a:pt x="0" y="11112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840788" y="1582738"/>
              <a:ext cx="111125" cy="111125"/>
            </a:xfrm>
            <a:custGeom>
              <a:avLst/>
              <a:gdLst/>
              <a:ahLst/>
              <a:cxnLst/>
              <a:rect l="l" t="t" r="r" b="b"/>
              <a:pathLst>
                <a:path w="111125" h="111125">
                  <a:moveTo>
                    <a:pt x="0" y="55563"/>
                  </a:moveTo>
                  <a:cubicBezTo>
                    <a:pt x="0" y="86249"/>
                    <a:pt x="24876" y="111125"/>
                    <a:pt x="55563" y="111125"/>
                  </a:cubicBezTo>
                  <a:cubicBezTo>
                    <a:pt x="86249" y="111125"/>
                    <a:pt x="111125" y="86249"/>
                    <a:pt x="111125" y="55563"/>
                  </a:cubicBezTo>
                  <a:cubicBezTo>
                    <a:pt x="111125" y="24876"/>
                    <a:pt x="86249" y="0"/>
                    <a:pt x="55563" y="0"/>
                  </a:cubicBezTo>
                  <a:cubicBezTo>
                    <a:pt x="24876" y="0"/>
                    <a:pt x="0" y="24876"/>
                    <a:pt x="0" y="55563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796338" y="15382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8895007" y="1537335"/>
            <a:ext cx="8789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Top-K 筛选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963025" y="18078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返回最优匹配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09496" y="2006441"/>
            <a:ext cx="4500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C5CFC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topk = 5</a:t>
            </a:r>
          </a:p>
        </p:txBody>
      </p:sp>
      <p:sp>
        <p:nvSpPr>
          <p:cNvPr id="47" name="Line 47"/>
          <p:cNvSpPr/>
          <p:nvPr/>
        </p:nvSpPr>
        <p:spPr>
          <a:xfrm>
            <a:off x="6096000" y="2286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9CA3AF">
                <a:alpha val="30000"/>
              </a:srgbClr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3429000" y="3143250"/>
            <a:ext cx="5334000" cy="1333500"/>
          </a:xfrm>
          <a:prstGeom prst="roundRect">
            <a:avLst>
              <a:gd name="adj" fmla="val 8571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3429000" y="3143250"/>
            <a:ext cx="5334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100328" y="3267075"/>
            <a:ext cx="19913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Mirror Fill 局部微调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3810000" y="3714750"/>
            <a:ext cx="4381500" cy="523875"/>
            <a:chOff x="3810000" y="3714750"/>
            <a:chExt cx="4381500" cy="523875"/>
          </a:xfrm>
        </p:grpSpPr>
        <p:sp>
          <p:nvSpPr>
            <p:cNvPr id="51" name="Rectangle 51"/>
            <p:cNvSpPr/>
            <p:nvPr/>
          </p:nvSpPr>
          <p:spPr>
            <a:xfrm>
              <a:off x="3810000" y="3714750"/>
              <a:ext cx="1238250" cy="523875"/>
            </a:xfrm>
            <a:prstGeom prst="roundRect">
              <a:avLst>
                <a:gd name="adj" fmla="val 14545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91702" y="38380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段落级映射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88606" y="40257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自动分组匹配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5114925" y="3971925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9525">
              <a:solidFill>
                <a:srgbClr val="2D314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81625" y="3714750"/>
              <a:ext cx="1238250" cy="523875"/>
            </a:xfrm>
            <a:prstGeom prst="roundRect">
              <a:avLst>
                <a:gd name="adj" fmla="val 14545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18584" y="3838099"/>
              <a:ext cx="564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XML 替换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60231" y="40257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保持原有格式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686550" y="3971925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9525">
              <a:solidFill>
                <a:srgbClr val="2D314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53250" y="3714750"/>
              <a:ext cx="1238250" cy="523875"/>
            </a:xfrm>
            <a:prstGeom prst="roundRect">
              <a:avLst>
                <a:gd name="adj" fmla="val 14545"/>
              </a:avLst>
            </a:prstGeom>
            <a:solidFill>
              <a:srgbClr val="151724"/>
            </a:solidFill>
            <a:ln w="9525">
              <a:solidFill>
                <a:srgbClr val="2D314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99960" y="38380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版式保持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86863" y="40257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像素级精准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556647" y="4926806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混合评分公式：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837575" y="5169218"/>
            <a:ext cx="45168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score(i) = 0.7 × sim_vec(q, i) + 0.3 × sim_kw(q, i)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588431" y="560974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向量相似度主导语义理解，关键词匹配解决精确召回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958977" y="6419374"/>
            <a:ext cx="22740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仅需 2 个输入：查询文本 + 替换文本块</a:t>
            </a:r>
          </a:p>
        </p:txBody>
      </p:sp>
      <p:pic>
        <p:nvPicPr>
          <p:cNvPr id="67" name="narration5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62324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6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生成流</a:t>
            </a:r>
            <a:r>
              <a:rPr lang="zh-CN" sz="12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 xml:space="preserve"> · 7 步串行流水线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3889" r="0" b="3889"/>
          <a:stretch>
            <a:fillRect/>
          </a:stretch>
        </p:blipFill>
        <p:spPr>
          <a:xfrm>
            <a:off x="0" y="533400"/>
            <a:ext cx="12192000" cy="632460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0" y="533400"/>
            <a:ext cx="12192000" cy="6324600"/>
          </a:xfrm>
          <a:prstGeom prst="rect">
            <a:avLst/>
          </a:prstGeom>
          <a:solidFill>
            <a:srgbClr val="0B0C10">
              <a:alpha val="75000"/>
            </a:srgbClr>
          </a:solidFill>
          <a:ln>
            <a:noFill/>
          </a:ln>
        </p:spPr>
      </p:sp>
      <p:grpSp>
        <p:nvGrpSpPr>
          <p:cNvPr id="41" name="Group 41"/>
          <p:cNvGrpSpPr/>
          <p:nvPr/>
        </p:nvGrpSpPr>
        <p:grpSpPr>
          <a:xfrm>
            <a:off x="476250" y="1238250"/>
            <a:ext cx="10715625" cy="952500"/>
            <a:chOff x="476250" y="1238250"/>
            <a:chExt cx="10715625" cy="952500"/>
          </a:xfrm>
        </p:grpSpPr>
        <p:sp>
          <p:nvSpPr>
            <p:cNvPr id="7" name="Rectangle 7"/>
            <p:cNvSpPr/>
            <p:nvPr/>
          </p:nvSpPr>
          <p:spPr>
            <a:xfrm>
              <a:off x="476250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00D4FF">
                  <a:alpha val="60000"/>
                </a:srgb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82314" y="1362075"/>
              <a:ext cx="2166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1298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内容转换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825" y="1892141"/>
              <a:ext cx="11816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PDF/DOCX → Markdown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00025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19075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333625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7C5CFC">
                  <a:alpha val="60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13436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39913" y="164068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项目初始化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07481" y="1892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创建工程结构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57625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04812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7C5CFC">
                <a:alpha val="40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0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00D4FF">
                  <a:alpha val="60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70811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76048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模板匹配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4349" y="189214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品牌/布局/图表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90550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48375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7C5CFC">
                  <a:alpha val="6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28186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3423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八大确认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7238" y="1892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设计方案锁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572375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7762875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7C5CFC">
                <a:alpha val="4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905750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00D4FF">
                  <a:alpha val="60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5561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0798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图片获取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19099" y="1892141"/>
              <a:ext cx="8020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AI/Web/Search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429750" y="171450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9620250" y="1666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D4FF">
                <a:alpha val="40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763125" y="1238250"/>
              <a:ext cx="1428750" cy="952500"/>
            </a:xfrm>
            <a:prstGeom prst="roundRect">
              <a:avLst>
                <a:gd name="adj" fmla="val 10000"/>
              </a:avLst>
            </a:prstGeom>
            <a:solidFill>
              <a:srgbClr val="151724"/>
            </a:solidFill>
            <a:ln w="9525">
              <a:solidFill>
                <a:srgbClr val="7C5CFC">
                  <a:alpha val="6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342936" y="136207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48173" y="1640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逐页生成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23230" y="1892141"/>
              <a:ext cx="7085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手写 SVG 输出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6096000" y="25717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7C5CFC">
                <a:alpha val="30000"/>
              </a:srgbClr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4191000" y="3286125"/>
            <a:ext cx="3810000" cy="762000"/>
          </a:xfrm>
          <a:prstGeom prst="roundRect">
            <a:avLst>
              <a:gd name="adj" fmla="val 15000"/>
            </a:avLst>
          </a:prstGeom>
          <a:solidFill>
            <a:srgbClr val="151724"/>
          </a:solidFill>
          <a:ln w="19050">
            <a:gradFill>
              <a:gsLst>
                <a:gs pos="0">
                  <a:srgbClr val="00D4FF"/>
                </a:gs>
                <a:gs pos="100000">
                  <a:srgbClr val="7C5CFC"/>
                </a:gs>
              </a:gsLst>
              <a:lin ang="0" scaled="1"/>
            </a:gradFill>
          </a:ln>
        </p:spPr>
      </p:sp>
      <p:sp>
        <p:nvSpPr>
          <p:cNvPr id="44" name="TextBox 44"/>
          <p:cNvSpPr txBox="1"/>
          <p:nvPr/>
        </p:nvSpPr>
        <p:spPr>
          <a:xfrm>
            <a:off x="5961436" y="3409950"/>
            <a:ext cx="2691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D4FF"/>
                </a:solidFill>
                <a:latin typeface="Consolas"/>
                <a:ea typeface="Microsoft YaHei"/>
                <a:cs typeface="Consolas"/>
              </a:rPr>
              <a:t>07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47151" y="3683318"/>
            <a:ext cx="16976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后处理与 PPTX 导出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623387" y="3884295"/>
            <a:ext cx="29452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SVG → DrawingML · 图标嵌入 · 文本展平 · 直接可编辑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4429125"/>
            <a:ext cx="11049000" cy="1619250"/>
          </a:xfrm>
          <a:prstGeom prst="roundRect">
            <a:avLst>
              <a:gd name="adj" fmla="val 705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71500" y="4429125"/>
            <a:ext cx="11049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17272" y="4616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生成流核心纪律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952500" y="5000625"/>
            <a:ext cx="10382250" cy="1000125"/>
            <a:chOff x="952500" y="5000625"/>
            <a:chExt cx="10382250" cy="1000125"/>
          </a:xfrm>
        </p:grpSpPr>
        <p:sp>
          <p:nvSpPr>
            <p:cNvPr id="50" name="Rectangle 50"/>
            <p:cNvSpPr/>
            <p:nvPr/>
          </p:nvSpPr>
          <p:spPr>
            <a:xfrm>
              <a:off x="952500" y="50006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31570" y="5170170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1.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15415" y="51539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严格串行执行，禁止跳过步骤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476750" y="50006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655820" y="51701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2.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39665" y="5153978"/>
              <a:ext cx="2077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BLOCKING 硬停止，等待用户确认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001000" y="50006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180070" y="51701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3.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63915" y="51539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禁止跨阶段打包执行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52500" y="55721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31570" y="57416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4.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415415" y="572547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spec_lock 锚定每页重读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476750" y="55721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655820" y="57416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D4FF"/>
                  </a:solidFill>
                  <a:latin typeface="Consolas"/>
                  <a:ea typeface="Microsoft YaHei"/>
                  <a:cs typeface="Consolas"/>
                </a:rPr>
                <a:t>5.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939665" y="5725478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手写 SVG 非脚本生成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001000" y="5572125"/>
              <a:ext cx="3333750" cy="428625"/>
            </a:xfrm>
            <a:prstGeom prst="roundRect">
              <a:avLst>
                <a:gd name="adj" fmla="val 17778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80070" y="574167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5CFC"/>
                  </a:solidFill>
                  <a:latin typeface="Consolas"/>
                  <a:ea typeface="Microsoft YaHei"/>
                  <a:cs typeface="Consolas"/>
                </a:rPr>
                <a:t>6.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63915" y="57254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主 Agent 逐页串行生成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4887468" y="6466999"/>
            <a:ext cx="24170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串行流水线纪律 = 高质量 PPT 输出的保证</a:t>
            </a:r>
          </a:p>
        </p:txBody>
      </p:sp>
      <p:pic>
        <p:nvPicPr>
          <p:cNvPr id="70" name="narration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69380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21347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生成流</a:t>
            </a:r>
            <a:r>
              <a:rPr lang="zh-CN" sz="12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 xml:space="preserve"> · 质量保障与原生输出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0545" y="6791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质量保障体系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5524500" cy="2000250"/>
          </a:xfrm>
          <a:prstGeom prst="roundRect">
            <a:avLst>
              <a:gd name="adj" fmla="val 5714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285875"/>
            <a:ext cx="5524500" cy="38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90061" y="1514475"/>
            <a:ext cx="239178" cy="228600"/>
          </a:xfrm>
          <a:custGeom>
            <a:avLst/>
            <a:gdLst/>
            <a:ahLst/>
            <a:cxnLst/>
            <a:rect l="l" t="t" r="r" b="b"/>
            <a:pathLst>
              <a:path w="239178" h="228600">
                <a:moveTo>
                  <a:pt x="119589" y="0"/>
                </a:moveTo>
                <a:cubicBezTo>
                  <a:pt x="149254" y="26246"/>
                  <a:pt x="187972" y="39911"/>
                  <a:pt x="227539" y="38100"/>
                </a:cubicBezTo>
                <a:cubicBezTo>
                  <a:pt x="239178" y="77693"/>
                  <a:pt x="234262" y="120313"/>
                  <a:pt x="213917" y="156217"/>
                </a:cubicBezTo>
                <a:cubicBezTo>
                  <a:pt x="193571" y="192121"/>
                  <a:pt x="159535" y="218239"/>
                  <a:pt x="119589" y="228600"/>
                </a:cubicBezTo>
                <a:cubicBezTo>
                  <a:pt x="79643" y="218239"/>
                  <a:pt x="45606" y="192121"/>
                  <a:pt x="25261" y="156217"/>
                </a:cubicBezTo>
                <a:cubicBezTo>
                  <a:pt x="4915" y="120313"/>
                  <a:pt x="0" y="77693"/>
                  <a:pt x="11639" y="38100"/>
                </a:cubicBezTo>
                <a:cubicBezTo>
                  <a:pt x="51206" y="39911"/>
                  <a:pt x="89924" y="26246"/>
                  <a:pt x="119589" y="0"/>
                </a:cubicBezTo>
              </a:path>
            </a:pathLst>
          </a:custGeom>
          <a:noFill/>
          <a:ln w="19050">
            <a:solidFill>
              <a:srgbClr val="00D4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14450" y="1533525"/>
            <a:ext cx="32094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形式门控 · svg_quality_checker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57250" y="2000250"/>
            <a:ext cx="4857750" cy="1350169"/>
            <a:chOff x="857250" y="2000250"/>
            <a:chExt cx="4857750" cy="1350169"/>
          </a:xfrm>
        </p:grpSpPr>
        <p:sp>
          <p:nvSpPr>
            <p:cNvPr id="11" name="Rectangle 11"/>
            <p:cNvSpPr/>
            <p:nvPr/>
          </p:nvSpPr>
          <p:spPr>
            <a:xfrm>
              <a:off x="857250" y="2000250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6790" y="2134552"/>
              <a:ext cx="1363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Banned SVG 功能检查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33750" y="2000250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63290" y="2134552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viewBox 尺寸一致性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2524125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6790" y="265842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spec_lock 色彩漂移检测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333750" y="2524125"/>
              <a:ext cx="2381250" cy="400050"/>
            </a:xfrm>
            <a:prstGeom prst="roundRect">
              <a:avLst>
                <a:gd name="adj" fmla="val 14286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63290" y="26584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字体安全验证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7250" y="3048000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7742" y="3152299"/>
              <a:ext cx="17604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6B6B"/>
                  </a:solidFill>
                  <a:latin typeface="Segoe UI"/>
                  <a:ea typeface="Microsoft YaHei"/>
                  <a:cs typeface="Segoe UI"/>
                </a:rPr>
                <a:t>任何 error 必须修复才能继续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71500" y="3476625"/>
            <a:ext cx="5524500" cy="1047750"/>
          </a:xfrm>
          <a:prstGeom prst="roundRect">
            <a:avLst>
              <a:gd name="adj" fmla="val 1090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3476625"/>
            <a:ext cx="5524500" cy="381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grpSp>
        <p:nvGrpSpPr>
          <p:cNvPr id="30" name="Group 30"/>
          <p:cNvGrpSpPr/>
          <p:nvPr/>
        </p:nvGrpSpPr>
        <p:grpSpPr>
          <a:xfrm>
            <a:off x="895350" y="3733800"/>
            <a:ext cx="228600" cy="228600"/>
            <a:chOff x="895350" y="3733800"/>
            <a:chExt cx="228600" cy="228600"/>
          </a:xfrm>
        </p:grpSpPr>
        <p:sp>
          <p:nvSpPr>
            <p:cNvPr id="24" name="Freeform 24"/>
            <p:cNvSpPr/>
            <p:nvPr/>
          </p:nvSpPr>
          <p:spPr>
            <a:xfrm>
              <a:off x="1009650" y="3860800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44450" y="0"/>
                  </a:moveTo>
                  <a:cubicBezTo>
                    <a:pt x="19901" y="0"/>
                    <a:pt x="0" y="19901"/>
                    <a:pt x="0" y="44450"/>
                  </a:cubicBezTo>
                  <a:lnTo>
                    <a:pt x="0" y="57150"/>
                  </a:lnTo>
                  <a:cubicBezTo>
                    <a:pt x="0" y="81699"/>
                    <a:pt x="19901" y="101600"/>
                    <a:pt x="44450" y="101600"/>
                  </a:cubicBezTo>
                  <a:cubicBezTo>
                    <a:pt x="68999" y="101600"/>
                    <a:pt x="88900" y="81699"/>
                    <a:pt x="88900" y="57150"/>
                  </a:cubicBezTo>
                  <a:lnTo>
                    <a:pt x="88900" y="3429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20750" y="3860800"/>
              <a:ext cx="88900" cy="101600"/>
            </a:xfrm>
            <a:custGeom>
              <a:avLst/>
              <a:gdLst/>
              <a:ahLst/>
              <a:cxnLst/>
              <a:rect l="l" t="t" r="r" b="b"/>
              <a:pathLst>
                <a:path w="88900" h="101600">
                  <a:moveTo>
                    <a:pt x="44450" y="0"/>
                  </a:moveTo>
                  <a:cubicBezTo>
                    <a:pt x="68999" y="0"/>
                    <a:pt x="88900" y="19901"/>
                    <a:pt x="88900" y="44450"/>
                  </a:cubicBezTo>
                  <a:lnTo>
                    <a:pt x="88900" y="57150"/>
                  </a:lnTo>
                  <a:cubicBezTo>
                    <a:pt x="88900" y="81699"/>
                    <a:pt x="68999" y="101600"/>
                    <a:pt x="44450" y="101600"/>
                  </a:cubicBezTo>
                  <a:cubicBezTo>
                    <a:pt x="19901" y="101600"/>
                    <a:pt x="0" y="81699"/>
                    <a:pt x="0" y="57150"/>
                  </a:cubicBezTo>
                  <a:lnTo>
                    <a:pt x="0" y="3429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73150" y="3810000"/>
              <a:ext cx="50800" cy="88900"/>
            </a:xfrm>
            <a:custGeom>
              <a:avLst/>
              <a:gdLst/>
              <a:ahLst/>
              <a:cxnLst/>
              <a:rect l="l" t="t" r="r" b="b"/>
              <a:pathLst>
                <a:path w="50800" h="88900">
                  <a:moveTo>
                    <a:pt x="6350" y="88900"/>
                  </a:moveTo>
                  <a:cubicBezTo>
                    <a:pt x="30899" y="88900"/>
                    <a:pt x="50800" y="68999"/>
                    <a:pt x="50800" y="44450"/>
                  </a:cubicBezTo>
                  <a:cubicBezTo>
                    <a:pt x="50800" y="19901"/>
                    <a:pt x="30899" y="0"/>
                    <a:pt x="6350" y="0"/>
                  </a:cubicBez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09650" y="3733800"/>
              <a:ext cx="88900" cy="80010"/>
            </a:xfrm>
            <a:custGeom>
              <a:avLst/>
              <a:gdLst/>
              <a:ahLst/>
              <a:cxnLst/>
              <a:rect l="l" t="t" r="r" b="b"/>
              <a:pathLst>
                <a:path w="88900" h="80010">
                  <a:moveTo>
                    <a:pt x="88900" y="80010"/>
                  </a:moveTo>
                  <a:lnTo>
                    <a:pt x="88900" y="44450"/>
                  </a:lnTo>
                  <a:cubicBezTo>
                    <a:pt x="88900" y="19901"/>
                    <a:pt x="68999" y="0"/>
                    <a:pt x="44450" y="0"/>
                  </a:cubicBezTo>
                  <a:cubicBezTo>
                    <a:pt x="19901" y="0"/>
                    <a:pt x="0" y="19901"/>
                    <a:pt x="0" y="4445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5350" y="3810000"/>
              <a:ext cx="50800" cy="88900"/>
            </a:xfrm>
            <a:custGeom>
              <a:avLst/>
              <a:gdLst/>
              <a:ahLst/>
              <a:cxnLst/>
              <a:rect l="l" t="t" r="r" b="b"/>
              <a:pathLst>
                <a:path w="50800" h="88900">
                  <a:moveTo>
                    <a:pt x="44450" y="88900"/>
                  </a:moveTo>
                  <a:cubicBezTo>
                    <a:pt x="19901" y="88900"/>
                    <a:pt x="0" y="68999"/>
                    <a:pt x="0" y="44450"/>
                  </a:cubicBezTo>
                  <a:cubicBezTo>
                    <a:pt x="0" y="19901"/>
                    <a:pt x="19901" y="0"/>
                    <a:pt x="44450" y="0"/>
                  </a:cubicBezTo>
                  <a:lnTo>
                    <a:pt x="508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20750" y="3733800"/>
              <a:ext cx="88900" cy="171450"/>
            </a:xfrm>
            <a:custGeom>
              <a:avLst/>
              <a:gdLst/>
              <a:ahLst/>
              <a:cxnLst/>
              <a:rect l="l" t="t" r="r" b="b"/>
              <a:pathLst>
                <a:path w="88900" h="171450">
                  <a:moveTo>
                    <a:pt x="0" y="80010"/>
                  </a:move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ubicBezTo>
                    <a:pt x="68999" y="0"/>
                    <a:pt x="88900" y="19901"/>
                    <a:pt x="88900" y="44450"/>
                  </a:cubicBezTo>
                  <a:lnTo>
                    <a:pt x="88900" y="17145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314450" y="3743325"/>
            <a:ext cx="25899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内容门控 · 逻辑完整性检查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57250" y="4143375"/>
            <a:ext cx="4857750" cy="285750"/>
            <a:chOff x="857250" y="4143375"/>
            <a:chExt cx="4857750" cy="285750"/>
          </a:xfrm>
        </p:grpSpPr>
        <p:sp>
          <p:nvSpPr>
            <p:cNvPr id="32" name="Rectangle 32"/>
            <p:cNvSpPr/>
            <p:nvPr/>
          </p:nvSpPr>
          <p:spPr>
            <a:xfrm>
              <a:off x="857250" y="4143375"/>
              <a:ext cx="2381250" cy="285750"/>
            </a:xfrm>
            <a:prstGeom prst="roundRect">
              <a:avLst>
                <a:gd name="adj" fmla="val 20000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42286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内容覆盖完整性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33750" y="4143375"/>
              <a:ext cx="2381250" cy="285750"/>
            </a:xfrm>
            <a:prstGeom prst="roundRect">
              <a:avLst>
                <a:gd name="adj" fmla="val 20000"/>
              </a:avLst>
            </a:prstGeom>
            <a:solidFill>
              <a:srgbClr val="0B0C10"/>
            </a:solidFill>
            <a:ln w="9525">
              <a:solidFill>
                <a:srgbClr val="2D314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4242" y="42286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跨页逻辑连贯性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456045" y="679132"/>
            <a:ext cx="28604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SVG → DrawingML 原生映射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477000" y="952500"/>
            <a:ext cx="38100" cy="19050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477000" y="1285875"/>
            <a:ext cx="5143500" cy="3238500"/>
          </a:xfrm>
          <a:prstGeom prst="roundRect">
            <a:avLst>
              <a:gd name="adj" fmla="val 352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762750" y="147637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6991350" y="1666875"/>
            <a:ext cx="152400" cy="171450"/>
            <a:chOff x="6991350" y="1666875"/>
            <a:chExt cx="152400" cy="171450"/>
          </a:xfrm>
        </p:grpSpPr>
        <p:sp>
          <p:nvSpPr>
            <p:cNvPr id="41" name="Freeform 41"/>
            <p:cNvSpPr/>
            <p:nvPr/>
          </p:nvSpPr>
          <p:spPr>
            <a:xfrm>
              <a:off x="6991350" y="166687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76200" y="0"/>
                  </a:moveTo>
                  <a:lnTo>
                    <a:pt x="152400" y="42862"/>
                  </a:lnTo>
                  <a:lnTo>
                    <a:pt x="152400" y="128588"/>
                  </a:lnTo>
                  <a:lnTo>
                    <a:pt x="76200" y="171450"/>
                  </a:lnTo>
                  <a:lnTo>
                    <a:pt x="0" y="128588"/>
                  </a:lnTo>
                  <a:lnTo>
                    <a:pt x="0" y="42862"/>
                  </a:ln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067550" y="1709738"/>
              <a:ext cx="76200" cy="42862"/>
            </a:xfrm>
            <a:custGeom>
              <a:avLst/>
              <a:gdLst/>
              <a:ahLst/>
              <a:cxnLst/>
              <a:rect l="l" t="t" r="r" b="b"/>
              <a:pathLst>
                <a:path w="76200" h="42862">
                  <a:moveTo>
                    <a:pt x="0" y="42862"/>
                  </a:moveTo>
                  <a:lnTo>
                    <a:pt x="7620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7067550" y="1752600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991350" y="1709738"/>
              <a:ext cx="76200" cy="42862"/>
            </a:xfrm>
            <a:custGeom>
              <a:avLst/>
              <a:gdLst/>
              <a:ahLst/>
              <a:cxnLst/>
              <a:rect l="l" t="t" r="r" b="b"/>
              <a:pathLst>
                <a:path w="76200" h="42862">
                  <a:moveTo>
                    <a:pt x="76200" y="4286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7300912" y="1574006"/>
            <a:ext cx="11705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图标 use 占位符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01212" y="157400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→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91712" y="1574006"/>
            <a:ext cx="6586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真实形状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03770" y="1788795"/>
            <a:ext cx="24171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运行时嵌入为 SVG path，PPTX 中可选中编辑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762750" y="214312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59" name="Group 59"/>
          <p:cNvGrpSpPr/>
          <p:nvPr/>
        </p:nvGrpSpPr>
        <p:grpSpPr>
          <a:xfrm>
            <a:off x="6981825" y="2333625"/>
            <a:ext cx="171450" cy="171450"/>
            <a:chOff x="6981825" y="2333625"/>
            <a:chExt cx="171450" cy="171450"/>
          </a:xfrm>
        </p:grpSpPr>
        <p:sp>
          <p:nvSpPr>
            <p:cNvPr id="51" name="Freeform 51"/>
            <p:cNvSpPr/>
            <p:nvPr/>
          </p:nvSpPr>
          <p:spPr>
            <a:xfrm>
              <a:off x="6981825" y="23336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115175" y="233362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115175" y="246697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981825" y="246697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0" y="9525"/>
                  </a:moveTo>
                  <a:cubicBezTo>
                    <a:pt x="0" y="4264"/>
                    <a:pt x="4264" y="0"/>
                    <a:pt x="9525" y="0"/>
                  </a:cubicBezTo>
                  <a:lnTo>
                    <a:pt x="28575" y="0"/>
                  </a:lnTo>
                  <a:cubicBezTo>
                    <a:pt x="33836" y="0"/>
                    <a:pt x="38100" y="4264"/>
                    <a:pt x="38100" y="9525"/>
                  </a:cubicBezTo>
                  <a:lnTo>
                    <a:pt x="38100" y="28575"/>
                  </a:lnTo>
                  <a:cubicBezTo>
                    <a:pt x="38100" y="33836"/>
                    <a:pt x="33836" y="38100"/>
                    <a:pt x="28575" y="38100"/>
                  </a:cubicBezTo>
                  <a:lnTo>
                    <a:pt x="9525" y="38100"/>
                  </a:lnTo>
                  <a:cubicBezTo>
                    <a:pt x="4264" y="38100"/>
                    <a:pt x="0" y="33836"/>
                    <a:pt x="0" y="28575"/>
                  </a:cubicBezTo>
                  <a:lnTo>
                    <a:pt x="0" y="95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000875" y="2371725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134225" y="2371725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019925" y="23526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019925" y="24860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60" name="TextBox 60"/>
          <p:cNvSpPr txBox="1"/>
          <p:nvPr/>
        </p:nvSpPr>
        <p:spPr>
          <a:xfrm>
            <a:off x="7300912" y="2240756"/>
            <a:ext cx="12178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rect rx/ry 圆角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701212" y="224075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→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891712" y="224075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prstGeom roundRect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303770" y="2455545"/>
            <a:ext cx="27171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DrawingML 原生形状，支持 PowerPoint 任意调整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762750" y="280987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69" name="Group 69"/>
          <p:cNvGrpSpPr/>
          <p:nvPr/>
        </p:nvGrpSpPr>
        <p:grpSpPr>
          <a:xfrm>
            <a:off x="6981825" y="3000375"/>
            <a:ext cx="171450" cy="171450"/>
            <a:chOff x="6981825" y="3000375"/>
            <a:chExt cx="171450" cy="171450"/>
          </a:xfrm>
        </p:grpSpPr>
        <p:sp>
          <p:nvSpPr>
            <p:cNvPr id="65" name="Freeform 65"/>
            <p:cNvSpPr/>
            <p:nvPr/>
          </p:nvSpPr>
          <p:spPr>
            <a:xfrm>
              <a:off x="6981825" y="30003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077075" y="30003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76200"/>
                  </a:moveTo>
                  <a:lnTo>
                    <a:pt x="76200" y="47625"/>
                  </a:lnTo>
                  <a:cubicBezTo>
                    <a:pt x="76200" y="37104"/>
                    <a:pt x="67671" y="28575"/>
                    <a:pt x="57150" y="28575"/>
                  </a:cubicBezTo>
                  <a:lnTo>
                    <a:pt x="0" y="28575"/>
                  </a:lnTo>
                  <a:lnTo>
                    <a:pt x="28575" y="57150"/>
                  </a:lnTo>
                  <a:moveTo>
                    <a:pt x="28575" y="0"/>
                  </a:moveTo>
                  <a:lnTo>
                    <a:pt x="0" y="2857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981825" y="30956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28575"/>
                  </a:lnTo>
                  <a:cubicBezTo>
                    <a:pt x="0" y="39096"/>
                    <a:pt x="8529" y="47625"/>
                    <a:pt x="19050" y="47625"/>
                  </a:cubicBezTo>
                  <a:lnTo>
                    <a:pt x="76200" y="47625"/>
                  </a:lnTo>
                  <a:lnTo>
                    <a:pt x="47625" y="19050"/>
                  </a:lnTo>
                  <a:moveTo>
                    <a:pt x="47625" y="76200"/>
                  </a:moveTo>
                  <a:lnTo>
                    <a:pt x="76200" y="4762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096125" y="311467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70" name="TextBox 70"/>
          <p:cNvSpPr txBox="1"/>
          <p:nvPr/>
        </p:nvSpPr>
        <p:spPr>
          <a:xfrm>
            <a:off x="7300912" y="2907506"/>
            <a:ext cx="19975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图片 preserveAspectRatio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701212" y="290750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→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891712" y="2907506"/>
            <a:ext cx="9973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D4FF"/>
                </a:solidFill>
                <a:latin typeface="Segoe UI"/>
                <a:ea typeface="Microsoft YaHei"/>
                <a:cs typeface="Segoe UI"/>
              </a:rPr>
              <a:t>srcRect 裁剪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303770" y="3122295"/>
            <a:ext cx="21231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图片裁剪信息保留，PPTX 中可调整构图</a:t>
            </a:r>
          </a:p>
        </p:txBody>
      </p:sp>
      <p:sp>
        <p:nvSpPr>
          <p:cNvPr id="74" name="Rectangle 74"/>
          <p:cNvSpPr/>
          <p:nvPr/>
        </p:nvSpPr>
        <p:spPr>
          <a:xfrm>
            <a:off x="6762750" y="3476625"/>
            <a:ext cx="4572000" cy="523875"/>
          </a:xfrm>
          <a:prstGeom prst="roundRect">
            <a:avLst>
              <a:gd name="adj" fmla="val 14545"/>
            </a:avLst>
          </a:prstGeom>
          <a:solidFill>
            <a:srgbClr val="0B0C10"/>
          </a:solidFill>
          <a:ln w="9525">
            <a:solidFill>
              <a:srgbClr val="2D3148"/>
            </a:solidFill>
          </a:ln>
        </p:spPr>
      </p:sp>
      <p:grpSp>
        <p:nvGrpSpPr>
          <p:cNvPr id="79" name="Group 79"/>
          <p:cNvGrpSpPr/>
          <p:nvPr/>
        </p:nvGrpSpPr>
        <p:grpSpPr>
          <a:xfrm>
            <a:off x="7000875" y="3667125"/>
            <a:ext cx="133350" cy="171450"/>
            <a:chOff x="7000875" y="3667125"/>
            <a:chExt cx="133350" cy="171450"/>
          </a:xfrm>
        </p:grpSpPr>
        <p:sp>
          <p:nvSpPr>
            <p:cNvPr id="75" name="Freeform 75"/>
            <p:cNvSpPr/>
            <p:nvPr/>
          </p:nvSpPr>
          <p:spPr>
            <a:xfrm>
              <a:off x="7086600" y="3667125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0"/>
                  </a:moveTo>
                  <a:lnTo>
                    <a:pt x="0" y="38100"/>
                  </a:lnTo>
                  <a:cubicBezTo>
                    <a:pt x="0" y="43361"/>
                    <a:pt x="4264" y="47625"/>
                    <a:pt x="9525" y="47625"/>
                  </a:cubicBezTo>
                  <a:lnTo>
                    <a:pt x="47625" y="47625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000875" y="3667125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114300" y="171450"/>
                  </a:moveTo>
                  <a:lnTo>
                    <a:pt x="19050" y="171450"/>
                  </a:lnTo>
                  <a:cubicBezTo>
                    <a:pt x="8529" y="171450"/>
                    <a:pt x="0" y="162921"/>
                    <a:pt x="0" y="15240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lnTo>
                    <a:pt x="85725" y="0"/>
                  </a:lnTo>
                  <a:lnTo>
                    <a:pt x="133350" y="47625"/>
                  </a:lnTo>
                  <a:lnTo>
                    <a:pt x="133350" y="152400"/>
                  </a:lnTo>
                  <a:cubicBezTo>
                    <a:pt x="133350" y="162921"/>
                    <a:pt x="124821" y="171450"/>
                    <a:pt x="114300" y="171450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038975" y="376237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9525" y="0"/>
                  </a:moveTo>
                  <a:lnTo>
                    <a:pt x="0" y="19050"/>
                  </a:lnTo>
                  <a:lnTo>
                    <a:pt x="9525" y="381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086600" y="3762375"/>
              <a:ext cx="9525" cy="38100"/>
            </a:xfrm>
            <a:custGeom>
              <a:avLst/>
              <a:gdLst/>
              <a:ahLst/>
              <a:cxnLst/>
              <a:rect l="l" t="t" r="r" b="b"/>
              <a:pathLst>
                <a:path w="9525" h="38100">
                  <a:moveTo>
                    <a:pt x="0" y="0"/>
                  </a:moveTo>
                  <a:lnTo>
                    <a:pt x="9525" y="19050"/>
                  </a:ln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80" name="TextBox 80"/>
          <p:cNvSpPr txBox="1"/>
          <p:nvPr/>
        </p:nvSpPr>
        <p:spPr>
          <a:xfrm>
            <a:off x="7300912" y="3574256"/>
            <a:ext cx="15013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文本 tspan 行内格式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701212" y="3574256"/>
            <a:ext cx="1110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→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891712" y="3574256"/>
            <a:ext cx="11233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7C5CFC"/>
                </a:solidFill>
                <a:latin typeface="Segoe UI"/>
                <a:ea typeface="Microsoft YaHei"/>
                <a:cs typeface="Segoe UI"/>
              </a:rPr>
              <a:t>a:r 富文本段落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303770" y="3789045"/>
            <a:ext cx="21951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保持粗体/颜色/大小，支持 Word 式编辑</a:t>
            </a:r>
          </a:p>
        </p:txBody>
      </p:sp>
      <p:sp>
        <p:nvSpPr>
          <p:cNvPr id="84" name="Rectangle 84"/>
          <p:cNvSpPr/>
          <p:nvPr/>
        </p:nvSpPr>
        <p:spPr>
          <a:xfrm>
            <a:off x="571500" y="4953000"/>
            <a:ext cx="11049000" cy="1047750"/>
          </a:xfrm>
          <a:prstGeom prst="roundRect">
            <a:avLst>
              <a:gd name="adj" fmla="val 10909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85" name="Rectangle 85"/>
          <p:cNvSpPr/>
          <p:nvPr/>
        </p:nvSpPr>
        <p:spPr>
          <a:xfrm>
            <a:off x="571500" y="4953000"/>
            <a:ext cx="11049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4472154" y="5140642"/>
            <a:ext cx="32476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结果：可编辑的 PPTX，不是图片 PPTX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1200150" y="5477828"/>
            <a:ext cx="10382298" cy="213360"/>
            <a:chOff x="1200150" y="5477828"/>
            <a:chExt cx="10382298" cy="213360"/>
          </a:xfrm>
        </p:grpSpPr>
        <p:sp>
          <p:nvSpPr>
            <p:cNvPr id="87" name="Ellipse 87"/>
            <p:cNvSpPr/>
            <p:nvPr/>
          </p:nvSpPr>
          <p:spPr>
            <a:xfrm>
              <a:off x="1200150" y="54959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377315" y="5477828"/>
              <a:ext cx="23929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文字可编辑 — PowerPoint 原生文本框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4248150" y="54959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4425315" y="5477828"/>
              <a:ext cx="2203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形状可调整 — DrawingML 原生图形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7296150" y="5495925"/>
              <a:ext cx="76200" cy="76200"/>
            </a:xfrm>
            <a:prstGeom prst="ellipse">
              <a:avLst/>
            </a:prstGeom>
            <a:solidFill>
              <a:srgbClr val="00D4FF">
                <a:alpha val="60000"/>
              </a:srgbClr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73315" y="5477828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图片可裁剪 — srcRect 映射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9677400" y="5495925"/>
              <a:ext cx="76200" cy="76200"/>
            </a:xfrm>
            <a:prstGeom prst="ellipse">
              <a:avLst/>
            </a:prstGeom>
            <a:solidFill>
              <a:srgbClr val="7C5CFC">
                <a:alpha val="60000"/>
              </a:srgbClr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854565" y="5477828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动画可添加 — 默认淡入效果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3902595" y="6419374"/>
            <a:ext cx="43868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svg_quality_checker 运行于 svg_output/（finalize 前），避免掩藏问题</a:t>
            </a:r>
          </a:p>
        </p:txBody>
      </p:sp>
      <p:pic>
        <p:nvPicPr>
          <p:cNvPr id="97" name="narration7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70292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9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51724">
              <a:alpha val="6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6260" y="213360"/>
            <a:ext cx="14946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设计理念</a:t>
            </a:r>
            <a:r>
              <a:rPr lang="zh-CN" sz="12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 xml:space="preserve"> · 技术亮点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49070" y="694372"/>
            <a:ext cx="3093860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DeepPPT 的四大设计原则</a:t>
            </a:r>
          </a:p>
        </p:txBody>
      </p:sp>
      <p:sp>
        <p:nvSpPr>
          <p:cNvPr id="6" name="Rectangle 6"/>
          <p:cNvSpPr/>
          <p:nvPr/>
        </p:nvSpPr>
        <p:spPr>
          <a:xfrm>
            <a:off x="4191000" y="1028700"/>
            <a:ext cx="3810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D4FF"/>
              </a:gs>
              <a:gs pos="100000">
                <a:srgbClr val="7C5CFC"/>
              </a:gs>
            </a:gsLst>
            <a:lin ang="0" scaled="1"/>
          </a:gra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19162" y="1662112"/>
            <a:ext cx="257175" cy="257175"/>
            <a:chOff x="919162" y="1662112"/>
            <a:chExt cx="257175" cy="257175"/>
          </a:xfrm>
        </p:grpSpPr>
        <p:sp>
          <p:nvSpPr>
            <p:cNvPr id="9" name="Freeform 9"/>
            <p:cNvSpPr/>
            <p:nvPr/>
          </p:nvSpPr>
          <p:spPr>
            <a:xfrm>
              <a:off x="919162" y="166211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0" y="100012"/>
                  </a:moveTo>
                  <a:cubicBezTo>
                    <a:pt x="0" y="155248"/>
                    <a:pt x="44777" y="200025"/>
                    <a:pt x="100012" y="200025"/>
                  </a:cubicBezTo>
                  <a:cubicBezTo>
                    <a:pt x="155248" y="200025"/>
                    <a:pt x="200025" y="155248"/>
                    <a:pt x="200025" y="100012"/>
                  </a:cubicBezTo>
                  <a:cubicBezTo>
                    <a:pt x="200025" y="44777"/>
                    <a:pt x="155248" y="0"/>
                    <a:pt x="100012" y="0"/>
                  </a:cubicBezTo>
                  <a:cubicBezTo>
                    <a:pt x="44777" y="0"/>
                    <a:pt x="0" y="44777"/>
                    <a:pt x="0" y="100012"/>
                  </a:cubicBez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90612" y="18335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857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388745" y="1679258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搜索优先，不吃存量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4875" y="2135981"/>
            <a:ext cx="2764035" cy="228600"/>
            <a:chOff x="904875" y="2135981"/>
            <a:chExt cx="2764035" cy="228600"/>
          </a:xfrm>
        </p:grpSpPr>
        <p:sp>
          <p:nvSpPr>
            <p:cNvPr id="13" name="Ellipse 13"/>
            <p:cNvSpPr/>
            <p:nvPr/>
          </p:nvSpPr>
          <p:spPr>
            <a:xfrm>
              <a:off x="904875" y="21717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2512" y="2135981"/>
              <a:ext cx="2616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企业已有 PPT 是最大的资产，不是负担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4875" y="2421731"/>
            <a:ext cx="2599015" cy="228600"/>
            <a:chOff x="904875" y="2421731"/>
            <a:chExt cx="2599015" cy="228600"/>
          </a:xfrm>
        </p:grpSpPr>
        <p:sp>
          <p:nvSpPr>
            <p:cNvPr id="16" name="Ellipse 16"/>
            <p:cNvSpPr/>
            <p:nvPr/>
          </p:nvSpPr>
          <p:spPr>
            <a:xfrm>
              <a:off x="904875" y="24574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2512" y="2421731"/>
              <a:ext cx="24513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精确索引 + 语义搜索，最大化召回率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4875" y="2707481"/>
            <a:ext cx="2771536" cy="228600"/>
            <a:chOff x="904875" y="2707481"/>
            <a:chExt cx="2771536" cy="228600"/>
          </a:xfrm>
        </p:grpSpPr>
        <p:sp>
          <p:nvSpPr>
            <p:cNvPr id="19" name="Ellipse 19"/>
            <p:cNvSpPr/>
            <p:nvPr/>
          </p:nvSpPr>
          <p:spPr>
            <a:xfrm>
              <a:off x="904875" y="27432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2512" y="2707481"/>
              <a:ext cx="26238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Mirror Fill 只在局部微调，不破坏原版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4875" y="2993231"/>
            <a:ext cx="2448996" cy="228600"/>
            <a:chOff x="904875" y="2993231"/>
            <a:chExt cx="2448996" cy="228600"/>
          </a:xfrm>
        </p:grpSpPr>
        <p:sp>
          <p:nvSpPr>
            <p:cNvPr id="22" name="Ellipse 22"/>
            <p:cNvSpPr/>
            <p:nvPr/>
          </p:nvSpPr>
          <p:spPr>
            <a:xfrm>
              <a:off x="904875" y="30289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2512" y="2993231"/>
              <a:ext cx="23013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召回流优先，生成流兜底 — 双保险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6286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286500" y="133350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628213" y="1662112"/>
            <a:ext cx="269075" cy="257175"/>
          </a:xfrm>
          <a:custGeom>
            <a:avLst/>
            <a:gdLst/>
            <a:ahLst/>
            <a:cxnLst/>
            <a:rect l="l" t="t" r="r" b="b"/>
            <a:pathLst>
              <a:path w="269075" h="257175">
                <a:moveTo>
                  <a:pt x="134537" y="0"/>
                </a:moveTo>
                <a:cubicBezTo>
                  <a:pt x="167911" y="29526"/>
                  <a:pt x="211468" y="44899"/>
                  <a:pt x="255981" y="42862"/>
                </a:cubicBezTo>
                <a:cubicBezTo>
                  <a:pt x="269075" y="87404"/>
                  <a:pt x="263545" y="135352"/>
                  <a:pt x="240656" y="175744"/>
                </a:cubicBezTo>
                <a:cubicBezTo>
                  <a:pt x="217768" y="216136"/>
                  <a:pt x="179477" y="245519"/>
                  <a:pt x="134537" y="257175"/>
                </a:cubicBezTo>
                <a:cubicBezTo>
                  <a:pt x="89598" y="245519"/>
                  <a:pt x="51307" y="216136"/>
                  <a:pt x="28418" y="175744"/>
                </a:cubicBezTo>
                <a:cubicBezTo>
                  <a:pt x="5530" y="135352"/>
                  <a:pt x="0" y="87404"/>
                  <a:pt x="13094" y="42862"/>
                </a:cubicBezTo>
                <a:cubicBezTo>
                  <a:pt x="57607" y="44899"/>
                  <a:pt x="101164" y="29526"/>
                  <a:pt x="134537" y="0"/>
                </a:cubicBezTo>
              </a:path>
            </a:pathLst>
          </a:custGeom>
          <a:noFill/>
          <a:ln w="19050">
            <a:solidFill>
              <a:srgbClr val="7C5CF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3745" y="1679258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严肃纪律，不投机取巧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619875" y="2135981"/>
            <a:ext cx="2576512" cy="228600"/>
            <a:chOff x="6619875" y="2135981"/>
            <a:chExt cx="2576512" cy="228600"/>
          </a:xfrm>
        </p:grpSpPr>
        <p:sp>
          <p:nvSpPr>
            <p:cNvPr id="29" name="Ellipse 29"/>
            <p:cNvSpPr/>
            <p:nvPr/>
          </p:nvSpPr>
          <p:spPr>
            <a:xfrm>
              <a:off x="6619875" y="21717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67512" y="21359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严格串行流水线，每一步都不可跳过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19875" y="2421731"/>
            <a:ext cx="2674024" cy="228600"/>
            <a:chOff x="6619875" y="2421731"/>
            <a:chExt cx="2674024" cy="228600"/>
          </a:xfrm>
        </p:grpSpPr>
        <p:sp>
          <p:nvSpPr>
            <p:cNvPr id="32" name="Ellipse 32"/>
            <p:cNvSpPr/>
            <p:nvPr/>
          </p:nvSpPr>
          <p:spPr>
            <a:xfrm>
              <a:off x="6619875" y="24574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67512" y="2421731"/>
              <a:ext cx="25263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BLOCKING 硬停止，等待用户明确确认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19875" y="2707481"/>
            <a:ext cx="2426493" cy="228600"/>
            <a:chOff x="6619875" y="2707481"/>
            <a:chExt cx="2426493" cy="228600"/>
          </a:xfrm>
        </p:grpSpPr>
        <p:sp>
          <p:nvSpPr>
            <p:cNvPr id="35" name="Ellipse 35"/>
            <p:cNvSpPr/>
            <p:nvPr/>
          </p:nvSpPr>
          <p:spPr>
            <a:xfrm>
              <a:off x="6619875" y="27432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7512" y="2707481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禁止跨阶段打包，每阶段独立验证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19875" y="2993231"/>
            <a:ext cx="3026568" cy="228600"/>
            <a:chOff x="6619875" y="2993231"/>
            <a:chExt cx="3026568" cy="228600"/>
          </a:xfrm>
        </p:grpSpPr>
        <p:sp>
          <p:nvSpPr>
            <p:cNvPr id="38" name="Ellipse 38"/>
            <p:cNvSpPr/>
            <p:nvPr/>
          </p:nvSpPr>
          <p:spPr>
            <a:xfrm>
              <a:off x="6619875" y="30289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67512" y="2993231"/>
              <a:ext cx="2878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spec_lock 锚定规范，抵抗上下文压缩漂移</a:t>
              </a:r>
            </a:p>
          </p:txBody>
        </p:sp>
      </p:grpSp>
      <p:sp>
        <p:nvSpPr>
          <p:cNvPr id="41" name="Rectangle 41"/>
          <p:cNvSpPr/>
          <p:nvPr/>
        </p:nvSpPr>
        <p:spPr>
          <a:xfrm>
            <a:off x="571500" y="390525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71500" y="390525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919162" y="4233862"/>
            <a:ext cx="257176" cy="257176"/>
            <a:chOff x="919162" y="4233862"/>
            <a:chExt cx="257176" cy="257176"/>
          </a:xfrm>
        </p:grpSpPr>
        <p:sp>
          <p:nvSpPr>
            <p:cNvPr id="43" name="Freeform 43"/>
            <p:cNvSpPr/>
            <p:nvPr/>
          </p:nvSpPr>
          <p:spPr>
            <a:xfrm>
              <a:off x="919162" y="42338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119188" y="423386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19188" y="443388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19162" y="443388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14288"/>
                  </a:moveTo>
                  <a:cubicBezTo>
                    <a:pt x="0" y="6397"/>
                    <a:pt x="6397" y="0"/>
                    <a:pt x="14288" y="0"/>
                  </a:cubicBezTo>
                  <a:lnTo>
                    <a:pt x="42862" y="0"/>
                  </a:lnTo>
                  <a:cubicBezTo>
                    <a:pt x="50753" y="0"/>
                    <a:pt x="57150" y="6397"/>
                    <a:pt x="57150" y="14288"/>
                  </a:cubicBezTo>
                  <a:lnTo>
                    <a:pt x="57150" y="42862"/>
                  </a:lnTo>
                  <a:cubicBezTo>
                    <a:pt x="57150" y="50753"/>
                    <a:pt x="50753" y="57150"/>
                    <a:pt x="42862" y="57150"/>
                  </a:cubicBezTo>
                  <a:lnTo>
                    <a:pt x="14288" y="57150"/>
                  </a:lnTo>
                  <a:cubicBezTo>
                    <a:pt x="6397" y="57150"/>
                    <a:pt x="0" y="50753"/>
                    <a:pt x="0" y="42862"/>
                  </a:cubicBezTo>
                  <a:lnTo>
                    <a:pt x="0" y="14288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47738" y="4291012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147762" y="4291012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976312" y="4262438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76312" y="4462462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0D4FF"/>
              </a:solidFill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1388745" y="4251008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原生能力，不降级妥协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904875" y="4707731"/>
            <a:ext cx="2614017" cy="228600"/>
            <a:chOff x="904875" y="4707731"/>
            <a:chExt cx="2614017" cy="228600"/>
          </a:xfrm>
        </p:grpSpPr>
        <p:sp>
          <p:nvSpPr>
            <p:cNvPr id="53" name="Ellipse 53"/>
            <p:cNvSpPr/>
            <p:nvPr/>
          </p:nvSpPr>
          <p:spPr>
            <a:xfrm>
              <a:off x="904875" y="47434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2512" y="4707731"/>
              <a:ext cx="24663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手写 SVG 非脚本生成，逐页视觉连续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04875" y="4993481"/>
            <a:ext cx="2906553" cy="228600"/>
            <a:chOff x="904875" y="4993481"/>
            <a:chExt cx="2906553" cy="228600"/>
          </a:xfrm>
        </p:grpSpPr>
        <p:sp>
          <p:nvSpPr>
            <p:cNvPr id="56" name="Ellipse 56"/>
            <p:cNvSpPr/>
            <p:nvPr/>
          </p:nvSpPr>
          <p:spPr>
            <a:xfrm>
              <a:off x="904875" y="50292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2512" y="4993481"/>
              <a:ext cx="27589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SVG → DrawingML 映射，文字可选可编辑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04875" y="5279231"/>
            <a:ext cx="2276475" cy="228600"/>
            <a:chOff x="904875" y="5279231"/>
            <a:chExt cx="2276475" cy="228600"/>
          </a:xfrm>
        </p:grpSpPr>
        <p:sp>
          <p:nvSpPr>
            <p:cNvPr id="59" name="Ellipse 59"/>
            <p:cNvSpPr/>
            <p:nvPr/>
          </p:nvSpPr>
          <p:spPr>
            <a:xfrm>
              <a:off x="904875" y="531495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52512" y="5279231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图标嵌入为真实形状，不是位图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04875" y="5564981"/>
            <a:ext cx="3446621" cy="228600"/>
            <a:chOff x="904875" y="5564981"/>
            <a:chExt cx="3446621" cy="228600"/>
          </a:xfrm>
        </p:grpSpPr>
        <p:sp>
          <p:nvSpPr>
            <p:cNvPr id="62" name="Ellipse 62"/>
            <p:cNvSpPr/>
            <p:nvPr/>
          </p:nvSpPr>
          <p:spPr>
            <a:xfrm>
              <a:off x="904875" y="5600700"/>
              <a:ext cx="57150" cy="57150"/>
            </a:xfrm>
            <a:prstGeom prst="ellipse">
              <a:avLst/>
            </a:prstGeom>
            <a:solidFill>
              <a:srgbClr val="00D4FF">
                <a:alpha val="5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52512" y="5564981"/>
              <a:ext cx="32989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图片 preserveAspectRatio → srcRect 原生裁剪</a:t>
              </a:r>
            </a:p>
          </p:txBody>
        </p:sp>
      </p:grpSp>
      <p:sp>
        <p:nvSpPr>
          <p:cNvPr id="65" name="Rectangle 65"/>
          <p:cNvSpPr/>
          <p:nvPr/>
        </p:nvSpPr>
        <p:spPr>
          <a:xfrm>
            <a:off x="6286500" y="390525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151724"/>
          </a:solidFill>
          <a:ln w="9525">
            <a:solidFill>
              <a:srgbClr val="2D3148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6286500" y="390525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7C5CFC"/>
          </a:solidFill>
          <a:ln>
            <a:noFill/>
          </a:ln>
        </p:spPr>
      </p:sp>
      <p:grpSp>
        <p:nvGrpSpPr>
          <p:cNvPr id="73" name="Group 73"/>
          <p:cNvGrpSpPr/>
          <p:nvPr/>
        </p:nvGrpSpPr>
        <p:grpSpPr>
          <a:xfrm>
            <a:off x="6662738" y="4248150"/>
            <a:ext cx="214312" cy="228600"/>
            <a:chOff x="6662738" y="4248150"/>
            <a:chExt cx="214312" cy="228600"/>
          </a:xfrm>
        </p:grpSpPr>
        <p:sp>
          <p:nvSpPr>
            <p:cNvPr id="67" name="Freeform 67"/>
            <p:cNvSpPr/>
            <p:nvPr/>
          </p:nvSpPr>
          <p:spPr>
            <a:xfrm>
              <a:off x="6662738" y="44196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6662738" y="42481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6805612" y="42481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28575"/>
                  </a:moveTo>
                  <a:cubicBezTo>
                    <a:pt x="0" y="44357"/>
                    <a:pt x="12793" y="57150"/>
                    <a:pt x="28575" y="57150"/>
                  </a:cubicBez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6691312" y="43053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719888" y="4348162"/>
              <a:ext cx="114300" cy="100012"/>
            </a:xfrm>
            <a:custGeom>
              <a:avLst/>
              <a:gdLst/>
              <a:ahLst/>
              <a:cxnLst/>
              <a:rect l="l" t="t" r="r" b="b"/>
              <a:pathLst>
                <a:path w="114300" h="100012">
                  <a:moveTo>
                    <a:pt x="0" y="100012"/>
                  </a:moveTo>
                  <a:lnTo>
                    <a:pt x="85725" y="100012"/>
                  </a:lnTo>
                  <a:cubicBezTo>
                    <a:pt x="101507" y="100012"/>
                    <a:pt x="114300" y="87219"/>
                    <a:pt x="114300" y="71438"/>
                  </a:cubicBez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791325" y="4348162"/>
              <a:ext cx="85725" cy="42862"/>
            </a:xfrm>
            <a:custGeom>
              <a:avLst/>
              <a:gdLst/>
              <a:ahLst/>
              <a:cxnLst/>
              <a:rect l="l" t="t" r="r" b="b"/>
              <a:pathLst>
                <a:path w="85725" h="42862">
                  <a:moveTo>
                    <a:pt x="0" y="42862"/>
                  </a:moveTo>
                  <a:lnTo>
                    <a:pt x="42862" y="0"/>
                  </a:lnTo>
                  <a:lnTo>
                    <a:pt x="85725" y="42862"/>
                  </a:lnTo>
                </a:path>
              </a:pathLst>
            </a:custGeom>
            <a:noFill/>
            <a:ln w="19050">
              <a:solidFill>
                <a:srgbClr val="7C5CFC"/>
              </a:solidFill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7103745" y="4251008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4E7EB"/>
                </a:solidFill>
                <a:latin typeface="Segoe UI"/>
                <a:ea typeface="Microsoft YaHei"/>
                <a:cs typeface="Segoe UI"/>
              </a:rPr>
              <a:t>可追溯，不留黑箱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6619875" y="4707731"/>
            <a:ext cx="3281600" cy="228600"/>
            <a:chOff x="6619875" y="4707731"/>
            <a:chExt cx="3281600" cy="228600"/>
          </a:xfrm>
        </p:grpSpPr>
        <p:sp>
          <p:nvSpPr>
            <p:cNvPr id="75" name="Ellipse 75"/>
            <p:cNvSpPr/>
            <p:nvPr/>
          </p:nvSpPr>
          <p:spPr>
            <a:xfrm>
              <a:off x="6619875" y="47434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767512" y="4707731"/>
              <a:ext cx="31339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image_prompts.md 记录每张 AI 图片 prompt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619875" y="4993481"/>
            <a:ext cx="2569011" cy="228600"/>
            <a:chOff x="6619875" y="4993481"/>
            <a:chExt cx="2569011" cy="228600"/>
          </a:xfrm>
        </p:grpSpPr>
        <p:sp>
          <p:nvSpPr>
            <p:cNvPr id="78" name="Ellipse 78"/>
            <p:cNvSpPr/>
            <p:nvPr/>
          </p:nvSpPr>
          <p:spPr>
            <a:xfrm>
              <a:off x="6619875" y="50292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67512" y="4993481"/>
              <a:ext cx="24213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design_spec.md 完整记录设计决策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619875" y="5279231"/>
            <a:ext cx="2403990" cy="228600"/>
            <a:chOff x="6619875" y="5279231"/>
            <a:chExt cx="2403990" cy="228600"/>
          </a:xfrm>
        </p:grpSpPr>
        <p:sp>
          <p:nvSpPr>
            <p:cNvPr id="81" name="Ellipse 81"/>
            <p:cNvSpPr/>
            <p:nvPr/>
          </p:nvSpPr>
          <p:spPr>
            <a:xfrm>
              <a:off x="6619875" y="531495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767512" y="5279231"/>
              <a:ext cx="22563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spec_lock.md 机器可读执行合同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19875" y="5564981"/>
            <a:ext cx="2636519" cy="228600"/>
            <a:chOff x="6619875" y="5564981"/>
            <a:chExt cx="2636519" cy="228600"/>
          </a:xfrm>
        </p:grpSpPr>
        <p:sp>
          <p:nvSpPr>
            <p:cNvPr id="84" name="Ellipse 84"/>
            <p:cNvSpPr/>
            <p:nvPr/>
          </p:nvSpPr>
          <p:spPr>
            <a:xfrm>
              <a:off x="6619875" y="5600700"/>
              <a:ext cx="57150" cy="57150"/>
            </a:xfrm>
            <a:prstGeom prst="ellipse">
              <a:avLst/>
            </a:prstGeom>
            <a:solidFill>
              <a:srgbClr val="7C5CFC">
                <a:alpha val="50000"/>
              </a:srgbClr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67512" y="5564981"/>
              <a:ext cx="24888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backup/ 目录保存每次导出 SVG 快照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4838712" y="6466999"/>
            <a:ext cx="25145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CA3AF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不投机、不跳过、不黑箱 — 每一步都可验证</a:t>
            </a:r>
          </a:p>
        </p:txBody>
      </p:sp>
      <p:pic>
        <p:nvPicPr>
          <p:cNvPr id="88" name="narration8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72476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8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286000" y="-381000"/>
            <a:ext cx="7620000" cy="7620000"/>
          </a:xfrm>
          <a:prstGeom prst="ellipse">
            <a:avLst/>
          </a:prstGeom>
          <a:gradFill>
            <a:gsLst>
              <a:gs pos="0">
                <a:srgbClr val="00D4FF">
                  <a:alpha val="8000"/>
                </a:srgbClr>
              </a:gs>
              <a:gs pos="100000">
                <a:srgbClr val="0B0C10">
                  <a:alpha val="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00D4FF">
                  <a:alpha val="60000"/>
                </a:srgbClr>
              </a:gs>
              <a:gs pos="100000">
                <a:srgbClr val="7C5CFC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42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504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10648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1410950" y="742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42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04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648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1410950" y="6076950"/>
            <a:ext cx="38100" cy="381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4641056" y="2326958"/>
            <a:ext cx="2909888" cy="1097280"/>
            <a:chOff x="4641056" y="2326958"/>
            <a:chExt cx="2909888" cy="1097280"/>
          </a:xfrm>
        </p:grpSpPr>
        <p:sp>
          <p:nvSpPr>
            <p:cNvPr id="13" name="TextBox 13"/>
            <p:cNvSpPr txBox="1"/>
            <p:nvPr/>
          </p:nvSpPr>
          <p:spPr>
            <a:xfrm>
              <a:off x="5206964" y="2326958"/>
              <a:ext cx="177807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Deep</a:t>
              </a:r>
              <a:r>
                <a:rPr lang="zh-CN" sz="3150" b="1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PPT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143500" y="290512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D4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62625" y="2905125"/>
              <a:ext cx="333375" cy="28575"/>
            </a:xfrm>
            <a:prstGeom prst="roundRect">
              <a:avLst>
                <a:gd name="adj" fmla="val 50000"/>
              </a:avLst>
            </a:prstGeom>
            <a:solidFill>
              <a:srgbClr val="7C5C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1056" y="3027998"/>
              <a:ext cx="290988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能搜就搜，搜不到就生成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76525" y="3867150"/>
            <a:ext cx="6819304" cy="981075"/>
            <a:chOff x="2676525" y="3867150"/>
            <a:chExt cx="6819304" cy="981075"/>
          </a:xfrm>
        </p:grpSpPr>
        <p:sp>
          <p:nvSpPr>
            <p:cNvPr id="18" name="Ellipse 18"/>
            <p:cNvSpPr/>
            <p:nvPr/>
          </p:nvSpPr>
          <p:spPr>
            <a:xfrm>
              <a:off x="2819400" y="3867150"/>
              <a:ext cx="457200" cy="457200"/>
            </a:xfrm>
            <a:prstGeom prst="ellipse">
              <a:avLst/>
            </a:pr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08757" y="4023360"/>
              <a:ext cx="784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08684" y="443150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召回流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76525" y="46653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存量素材复用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867400" y="3867150"/>
              <a:ext cx="457200" cy="457200"/>
            </a:xfrm>
            <a:prstGeom prst="ellipse">
              <a:avLst/>
            </a:prstGeom>
            <a:noFill/>
            <a:ln w="14288">
              <a:solidFill>
                <a:srgbClr val="7C5CFC">
                  <a:alpha val="40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6754" y="40233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5CFC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56684" y="443150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生成流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44540" y="4665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从零创造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915400" y="3867150"/>
              <a:ext cx="457200" cy="457200"/>
            </a:xfrm>
            <a:prstGeom prst="ellipse">
              <a:avLst/>
            </a:prstGeom>
            <a:noFill/>
            <a:ln w="14288">
              <a:solidFill>
                <a:srgbClr val="00D4FF">
                  <a:alpha val="4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84754" y="4023360"/>
              <a:ext cx="118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D4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92170" y="4431506"/>
              <a:ext cx="7036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4E7EB"/>
                  </a:solidFill>
                  <a:latin typeface="Segoe UI"/>
                  <a:ea typeface="Microsoft YaHei"/>
                  <a:cs typeface="Segoe UI"/>
                </a:rPr>
                <a:t>原生 PPTX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32532" y="46653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Segoe UI"/>
                  <a:ea typeface="Microsoft YaHei"/>
                  <a:cs typeface="Segoe UI"/>
                </a:rPr>
                <a:t>可编辑输出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606891" y="5172075"/>
            <a:ext cx="9782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Thank You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51724">
              <a:alpha val="5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60070" y="6684645"/>
            <a:ext cx="38273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DeepPPT — AI-driven multi-format SVG content generation system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45037" y="668464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>
                    <a:alphaMod val="40000"/>
                  </a:srgbClr>
                </a:solidFill>
                <a:latin typeface="Segoe UI"/>
                <a:ea typeface="Microsoft YaHei"/>
                <a:cs typeface="Segoe UI"/>
              </a:rPr>
              <a:t>2026</a:t>
            </a:r>
          </a:p>
        </p:txBody>
      </p:sp>
      <p:pic>
        <p:nvPicPr>
          <p:cNvPr id="35" name="narration9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 advTm="28868">
    <p:fad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